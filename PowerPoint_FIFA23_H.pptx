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883"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Big Data / Data Engineering</a:t>
            </a:r>
          </a:p>
        </p:txBody>
      </p:sp>
      <p:sp>
        <p:nvSpPr>
          <p:cNvPr id="6" name="Rounded Rectangle 5"/>
          <p:cNvSpPr/>
          <p:nvPr/>
        </p:nvSpPr>
        <p:spPr>
          <a:xfrm>
            <a:off x="685800" y="1051560"/>
            <a:ext cx="10789920" cy="4206240"/>
          </a:xfrm>
          <a:prstGeom prst="roundRect">
            <a:avLst/>
          </a:prstGeom>
          <a:solidFill>
            <a:srgbClr val="F5F7FA"/>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417320"/>
            <a:ext cx="10058400" cy="731520"/>
          </a:xfrm>
          <a:prstGeom prst="rect">
            <a:avLst/>
          </a:prstGeom>
          <a:noFill/>
        </p:spPr>
        <p:txBody>
          <a:bodyPr wrap="square">
            <a:spAutoFit/>
          </a:bodyPr>
          <a:lstStyle/>
          <a:p>
            <a:pPr algn="ctr">
              <a:defRPr sz="2400" b="1">
                <a:solidFill>
                  <a:srgbClr val="0F2E58"/>
                </a:solidFill>
                <a:latin typeface="Arial"/>
              </a:defRPr>
            </a:pPr>
            <a:r>
              <a:t>DIMENSIONALITY REDUCTION: SVD</a:t>
            </a:r>
            <a:br/>
            <a:r>
              <a:t>Ứng dụng trên hệ thống phân tích cầu thủ FIFA23</a:t>
            </a:r>
          </a:p>
        </p:txBody>
      </p:sp>
      <p:sp>
        <p:nvSpPr>
          <p:cNvPr id="8" name="TextBox 7"/>
          <p:cNvSpPr txBox="1"/>
          <p:nvPr/>
        </p:nvSpPr>
        <p:spPr>
          <a:xfrm>
            <a:off x="1645920" y="2514600"/>
            <a:ext cx="8778240" cy="1097280"/>
          </a:xfrm>
          <a:prstGeom prst="rect">
            <a:avLst/>
          </a:prstGeom>
          <a:noFill/>
        </p:spPr>
        <p:txBody>
          <a:bodyPr wrap="square">
            <a:spAutoFit/>
          </a:bodyPr>
          <a:lstStyle/>
          <a:p>
            <a:pPr algn="ctr">
              <a:defRPr sz="1800" b="0">
                <a:solidFill>
                  <a:srgbClr val="222222"/>
                </a:solidFill>
                <a:latin typeface="Arial"/>
              </a:defRPr>
            </a:pPr>
            <a:r>
              <a:t>Bài thuyết trình đồ án cuối kỳ</a:t>
            </a:r>
            <a:br/>
            <a:r>
              <a:t>Xây dựng pipeline Big Data bằng PySpark + Delta Lake, áp dụng SVD cho clustering, similarity và prediction.</a:t>
            </a:r>
          </a:p>
        </p:txBody>
      </p:sp>
      <p:sp>
        <p:nvSpPr>
          <p:cNvPr id="9" name="Rounded Rectangle 8"/>
          <p:cNvSpPr/>
          <p:nvPr/>
        </p:nvSpPr>
        <p:spPr>
          <a:xfrm>
            <a:off x="1097280" y="3840480"/>
            <a:ext cx="4480560" cy="384048"/>
          </a:xfrm>
          <a:prstGeom prst="roundRect">
            <a:avLst/>
          </a:prstGeom>
          <a:solidFill>
            <a:srgbClr val="FFFF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8" y="3895344"/>
            <a:ext cx="4297680" cy="228600"/>
          </a:xfrm>
          <a:prstGeom prst="rect">
            <a:avLst/>
          </a:prstGeom>
          <a:noFill/>
        </p:spPr>
        <p:txBody>
          <a:bodyPr wrap="square">
            <a:spAutoFit/>
          </a:bodyPr>
          <a:lstStyle/>
          <a:p>
            <a:pPr algn="l">
              <a:defRPr sz="1400" b="0">
                <a:solidFill>
                  <a:srgbClr val="222222"/>
                </a:solidFill>
                <a:latin typeface="Arial"/>
              </a:defRPr>
            </a:pPr>
            <a:r>
              <a:t>Sinh viên: ........................................</a:t>
            </a:r>
          </a:p>
        </p:txBody>
      </p:sp>
      <p:sp>
        <p:nvSpPr>
          <p:cNvPr id="11" name="Rounded Rectangle 10"/>
          <p:cNvSpPr/>
          <p:nvPr/>
        </p:nvSpPr>
        <p:spPr>
          <a:xfrm>
            <a:off x="6309360" y="3840480"/>
            <a:ext cx="4480560" cy="384048"/>
          </a:xfrm>
          <a:prstGeom prst="roundRect">
            <a:avLst/>
          </a:prstGeom>
          <a:solidFill>
            <a:srgbClr val="FFFF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3895344"/>
            <a:ext cx="4297680" cy="228600"/>
          </a:xfrm>
          <a:prstGeom prst="rect">
            <a:avLst/>
          </a:prstGeom>
          <a:noFill/>
        </p:spPr>
        <p:txBody>
          <a:bodyPr wrap="square">
            <a:spAutoFit/>
          </a:bodyPr>
          <a:lstStyle/>
          <a:p>
            <a:pPr algn="l">
              <a:defRPr sz="1400" b="0">
                <a:solidFill>
                  <a:srgbClr val="222222"/>
                </a:solidFill>
                <a:latin typeface="Arial"/>
              </a:defRPr>
            </a:pPr>
            <a:r>
              <a:t>MSSV: ........................................</a:t>
            </a:r>
          </a:p>
        </p:txBody>
      </p:sp>
      <p:sp>
        <p:nvSpPr>
          <p:cNvPr id="13" name="Rounded Rectangle 12"/>
          <p:cNvSpPr/>
          <p:nvPr/>
        </p:nvSpPr>
        <p:spPr>
          <a:xfrm>
            <a:off x="1097280" y="4389120"/>
            <a:ext cx="4480560" cy="384048"/>
          </a:xfrm>
          <a:prstGeom prst="roundRect">
            <a:avLst/>
          </a:prstGeom>
          <a:solidFill>
            <a:srgbClr val="FFFF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07008" y="4443984"/>
            <a:ext cx="4297680" cy="228600"/>
          </a:xfrm>
          <a:prstGeom prst="rect">
            <a:avLst/>
          </a:prstGeom>
          <a:noFill/>
        </p:spPr>
        <p:txBody>
          <a:bodyPr wrap="square">
            <a:spAutoFit/>
          </a:bodyPr>
          <a:lstStyle/>
          <a:p>
            <a:pPr algn="l">
              <a:defRPr sz="1400" b="0">
                <a:solidFill>
                  <a:srgbClr val="222222"/>
                </a:solidFill>
                <a:latin typeface="Arial"/>
              </a:defRPr>
            </a:pPr>
            <a:r>
              <a:t>Lớp: ........................................</a:t>
            </a:r>
          </a:p>
        </p:txBody>
      </p:sp>
      <p:sp>
        <p:nvSpPr>
          <p:cNvPr id="15" name="Rounded Rectangle 14"/>
          <p:cNvSpPr/>
          <p:nvPr/>
        </p:nvSpPr>
        <p:spPr>
          <a:xfrm>
            <a:off x="6309360" y="4389120"/>
            <a:ext cx="4480560" cy="384048"/>
          </a:xfrm>
          <a:prstGeom prst="roundRect">
            <a:avLst/>
          </a:prstGeom>
          <a:solidFill>
            <a:srgbClr val="FFFF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4443984"/>
            <a:ext cx="4297680" cy="228600"/>
          </a:xfrm>
          <a:prstGeom prst="rect">
            <a:avLst/>
          </a:prstGeom>
          <a:noFill/>
        </p:spPr>
        <p:txBody>
          <a:bodyPr wrap="square">
            <a:spAutoFit/>
          </a:bodyPr>
          <a:lstStyle/>
          <a:p>
            <a:pPr algn="l">
              <a:defRPr sz="1400" b="0">
                <a:solidFill>
                  <a:srgbClr val="222222"/>
                </a:solidFill>
                <a:latin typeface="Arial"/>
              </a:defRPr>
            </a:pPr>
            <a:r>
              <a:t>GVHD: ........................................</a:t>
            </a:r>
          </a:p>
        </p:txBody>
      </p:sp>
      <p:sp>
        <p:nvSpPr>
          <p:cNvPr id="17" name="TextBox 16"/>
          <p:cNvSpPr txBox="1"/>
          <p:nvPr/>
        </p:nvSpPr>
        <p:spPr>
          <a:xfrm>
            <a:off x="4023360" y="5989320"/>
            <a:ext cx="4114800" cy="274320"/>
          </a:xfrm>
          <a:prstGeom prst="rect">
            <a:avLst/>
          </a:prstGeom>
          <a:noFill/>
        </p:spPr>
        <p:txBody>
          <a:bodyPr wrap="square">
            <a:spAutoFit/>
          </a:bodyPr>
          <a:lstStyle/>
          <a:p>
            <a:pPr algn="ctr">
              <a:defRPr sz="1600" b="1">
                <a:solidFill>
                  <a:srgbClr val="0F2E58"/>
                </a:solidFill>
                <a:latin typeface="Arial"/>
              </a:defRPr>
            </a:pPr>
            <a:r>
              <a:t>Trường Đại học Thủ Dầu Một</a:t>
            </a:r>
          </a:p>
        </p:txBody>
      </p:sp>
      <p:sp>
        <p:nvSpPr>
          <p:cNvPr id="18" name="TextBox 17"/>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NỘI DUNG TRÌNH BÀY</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Agenda</a:t>
            </a:r>
          </a:p>
        </p:txBody>
      </p:sp>
      <p:sp>
        <p:nvSpPr>
          <p:cNvPr id="7" name="TextBox 6"/>
          <p:cNvSpPr txBox="1"/>
          <p:nvPr/>
        </p:nvSpPr>
        <p:spPr>
          <a:xfrm>
            <a:off x="822960" y="1005840"/>
            <a:ext cx="5669280" cy="5120640"/>
          </a:xfrm>
          <a:prstGeom prst="rect">
            <a:avLst/>
          </a:prstGeom>
          <a:noFill/>
        </p:spPr>
        <p:txBody>
          <a:bodyPr wrap="square" lIns="25400" tIns="25400" rIns="25400" bIns="25400">
            <a:spAutoFit/>
          </a:bodyPr>
          <a:lstStyle/>
          <a:p>
            <a:pPr>
              <a:spcAft>
                <a:spcPts val="800"/>
              </a:spcAft>
              <a:defRPr sz="2200">
                <a:solidFill>
                  <a:srgbClr val="222222"/>
                </a:solidFill>
                <a:latin typeface="Arial"/>
              </a:defRPr>
            </a:pPr>
            <a:r>
              <a:t>1. Đặt vấn đề và mục tiêu nghiên cứu</a:t>
            </a:r>
          </a:p>
          <a:p>
            <a:pPr>
              <a:spcAft>
                <a:spcPts val="800"/>
              </a:spcAft>
              <a:defRPr sz="2200">
                <a:solidFill>
                  <a:srgbClr val="222222"/>
                </a:solidFill>
                <a:latin typeface="Arial"/>
              </a:defRPr>
            </a:pPr>
            <a:r>
              <a:t>2. Cơ sở lý thuyết: Dimensionality Reduction và SVD</a:t>
            </a:r>
          </a:p>
          <a:p>
            <a:pPr>
              <a:spcAft>
                <a:spcPts val="800"/>
              </a:spcAft>
              <a:defRPr sz="2200">
                <a:solidFill>
                  <a:srgbClr val="222222"/>
                </a:solidFill>
                <a:latin typeface="Arial"/>
              </a:defRPr>
            </a:pPr>
            <a:r>
              <a:t>3. Dữ liệu, công nghệ và kiến trúc hệ thống</a:t>
            </a:r>
          </a:p>
          <a:p>
            <a:pPr>
              <a:spcAft>
                <a:spcPts val="800"/>
              </a:spcAft>
              <a:defRPr sz="2200">
                <a:solidFill>
                  <a:srgbClr val="222222"/>
                </a:solidFill>
                <a:latin typeface="Arial"/>
              </a:defRPr>
            </a:pPr>
            <a:r>
              <a:t>4. Tiền xử lý dữ liệu theo mô hình Bronze – Silver – Gold</a:t>
            </a:r>
          </a:p>
          <a:p>
            <a:pPr>
              <a:spcAft>
                <a:spcPts val="800"/>
              </a:spcAft>
              <a:defRPr sz="2200">
                <a:solidFill>
                  <a:srgbClr val="222222"/>
                </a:solidFill>
                <a:latin typeface="Arial"/>
              </a:defRPr>
            </a:pPr>
            <a:r>
              <a:t>5. Kết quả thực nghiệm: clustering, similarity, prediction</a:t>
            </a:r>
          </a:p>
          <a:p>
            <a:pPr>
              <a:spcAft>
                <a:spcPts val="800"/>
              </a:spcAft>
              <a:defRPr sz="2200">
                <a:solidFill>
                  <a:srgbClr val="222222"/>
                </a:solidFill>
                <a:latin typeface="Arial"/>
              </a:defRPr>
            </a:pPr>
            <a:r>
              <a:t>6. Đánh giá, kết luận và hướng phát triển</a:t>
            </a:r>
          </a:p>
        </p:txBody>
      </p:sp>
      <p:sp>
        <p:nvSpPr>
          <p:cNvPr id="8" name="Rounded Rectangle 7"/>
          <p:cNvSpPr/>
          <p:nvPr/>
        </p:nvSpPr>
        <p:spPr>
          <a:xfrm>
            <a:off x="6949440" y="1280160"/>
            <a:ext cx="201168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59168" y="1325880"/>
            <a:ext cx="1828800" cy="822960"/>
          </a:xfrm>
          <a:prstGeom prst="rect">
            <a:avLst/>
          </a:prstGeom>
          <a:noFill/>
        </p:spPr>
        <p:txBody>
          <a:bodyPr wrap="none">
            <a:spAutoFit/>
          </a:bodyPr>
          <a:lstStyle/>
          <a:p>
            <a:pPr>
              <a:defRPr sz="1200" b="1">
                <a:solidFill>
                  <a:srgbClr val="0F2E58"/>
                </a:solidFill>
                <a:latin typeface="Arial"/>
              </a:defRPr>
            </a:pPr>
            <a:r>
              <a:t>Dữ liệu</a:t>
            </a:r>
          </a:p>
          <a:p>
            <a:pPr>
              <a:defRPr sz="2200" b="1">
                <a:solidFill>
                  <a:srgbClr val="216BAB"/>
                </a:solidFill>
                <a:latin typeface="Arial"/>
              </a:defRPr>
            </a:pPr>
            <a:r>
              <a:t>10,003,590</a:t>
            </a:r>
          </a:p>
          <a:p>
            <a:pPr>
              <a:defRPr sz="1000">
                <a:solidFill>
                  <a:srgbClr val="696969"/>
                </a:solidFill>
                <a:latin typeface="Arial"/>
              </a:defRPr>
            </a:pPr>
            <a:r>
              <a:t>dòng cầu thủ</a:t>
            </a:r>
          </a:p>
        </p:txBody>
      </p:sp>
      <p:sp>
        <p:nvSpPr>
          <p:cNvPr id="10" name="Rounded Rectangle 9"/>
          <p:cNvSpPr/>
          <p:nvPr/>
        </p:nvSpPr>
        <p:spPr>
          <a:xfrm>
            <a:off x="9326880" y="1280160"/>
            <a:ext cx="201168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36608" y="1325880"/>
            <a:ext cx="1828800" cy="822960"/>
          </a:xfrm>
          <a:prstGeom prst="rect">
            <a:avLst/>
          </a:prstGeom>
          <a:noFill/>
        </p:spPr>
        <p:txBody>
          <a:bodyPr wrap="none">
            <a:spAutoFit/>
          </a:bodyPr>
          <a:lstStyle/>
          <a:p>
            <a:pPr>
              <a:defRPr sz="1200" b="1">
                <a:solidFill>
                  <a:srgbClr val="0F2E58"/>
                </a:solidFill>
                <a:latin typeface="Arial"/>
              </a:defRPr>
            </a:pPr>
            <a:r>
              <a:t>SVD Clustering</a:t>
            </a:r>
          </a:p>
          <a:p>
            <a:pPr>
              <a:defRPr sz="2200" b="1">
                <a:solidFill>
                  <a:srgbClr val="216BAB"/>
                </a:solidFill>
                <a:latin typeface="Arial"/>
              </a:defRPr>
            </a:pPr>
            <a:r>
              <a:t>87.0%</a:t>
            </a:r>
          </a:p>
          <a:p>
            <a:pPr>
              <a:defRPr sz="1000">
                <a:solidFill>
                  <a:srgbClr val="696969"/>
                </a:solidFill>
                <a:latin typeface="Arial"/>
              </a:defRPr>
            </a:pPr>
            <a:r>
              <a:t>explained variance</a:t>
            </a:r>
          </a:p>
        </p:txBody>
      </p:sp>
      <p:sp>
        <p:nvSpPr>
          <p:cNvPr id="12" name="Rounded Rectangle 11"/>
          <p:cNvSpPr/>
          <p:nvPr/>
        </p:nvSpPr>
        <p:spPr>
          <a:xfrm>
            <a:off x="6949440" y="2560320"/>
            <a:ext cx="201168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59168" y="2606040"/>
            <a:ext cx="1828800" cy="822960"/>
          </a:xfrm>
          <a:prstGeom prst="rect">
            <a:avLst/>
          </a:prstGeom>
          <a:noFill/>
        </p:spPr>
        <p:txBody>
          <a:bodyPr wrap="none">
            <a:spAutoFit/>
          </a:bodyPr>
          <a:lstStyle/>
          <a:p>
            <a:pPr>
              <a:defRPr sz="1200" b="1">
                <a:solidFill>
                  <a:srgbClr val="0F2E58"/>
                </a:solidFill>
                <a:latin typeface="Arial"/>
              </a:defRPr>
            </a:pPr>
            <a:r>
              <a:t>Silhouette</a:t>
            </a:r>
          </a:p>
          <a:p>
            <a:pPr>
              <a:defRPr sz="2200" b="1">
                <a:solidFill>
                  <a:srgbClr val="216BAB"/>
                </a:solidFill>
                <a:latin typeface="Arial"/>
              </a:defRPr>
            </a:pPr>
            <a:r>
              <a:t>0.4304</a:t>
            </a:r>
          </a:p>
          <a:p>
            <a:pPr>
              <a:defRPr sz="1000">
                <a:solidFill>
                  <a:srgbClr val="696969"/>
                </a:solidFill>
                <a:latin typeface="Arial"/>
              </a:defRPr>
            </a:pPr>
            <a:r>
              <a:t>KMeans K=6</a:t>
            </a:r>
          </a:p>
        </p:txBody>
      </p:sp>
      <p:sp>
        <p:nvSpPr>
          <p:cNvPr id="14" name="Rounded Rectangle 13"/>
          <p:cNvSpPr/>
          <p:nvPr/>
        </p:nvSpPr>
        <p:spPr>
          <a:xfrm>
            <a:off x="9326880" y="2560320"/>
            <a:ext cx="201168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36608" y="2606040"/>
            <a:ext cx="1828800" cy="822960"/>
          </a:xfrm>
          <a:prstGeom prst="rect">
            <a:avLst/>
          </a:prstGeom>
          <a:noFill/>
        </p:spPr>
        <p:txBody>
          <a:bodyPr wrap="none">
            <a:spAutoFit/>
          </a:bodyPr>
          <a:lstStyle/>
          <a:p>
            <a:pPr>
              <a:defRPr sz="1200" b="1">
                <a:solidFill>
                  <a:srgbClr val="0F2E58"/>
                </a:solidFill>
                <a:latin typeface="Arial"/>
              </a:defRPr>
            </a:pPr>
            <a:r>
              <a:t>Prediction</a:t>
            </a:r>
          </a:p>
          <a:p>
            <a:pPr>
              <a:defRPr sz="2200" b="1">
                <a:solidFill>
                  <a:srgbClr val="216BAB"/>
                </a:solidFill>
                <a:latin typeface="Arial"/>
              </a:defRPr>
            </a:pPr>
            <a:r>
              <a:t>R² = 0.8688</a:t>
            </a:r>
          </a:p>
          <a:p>
            <a:pPr>
              <a:defRPr sz="1000">
                <a:solidFill>
                  <a:srgbClr val="696969"/>
                </a:solidFill>
                <a:latin typeface="Arial"/>
              </a:defRPr>
            </a:pPr>
            <a:r>
              <a:t>GBT trên SVD</a:t>
            </a:r>
          </a:p>
        </p:txBody>
      </p:sp>
      <p:sp>
        <p:nvSpPr>
          <p:cNvPr id="16" name="Rounded Rectangle 15"/>
          <p:cNvSpPr/>
          <p:nvPr/>
        </p:nvSpPr>
        <p:spPr>
          <a:xfrm>
            <a:off x="8138160" y="3840480"/>
            <a:ext cx="201168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3886200"/>
            <a:ext cx="1828800" cy="822960"/>
          </a:xfrm>
          <a:prstGeom prst="rect">
            <a:avLst/>
          </a:prstGeom>
          <a:noFill/>
        </p:spPr>
        <p:txBody>
          <a:bodyPr wrap="none">
            <a:spAutoFit/>
          </a:bodyPr>
          <a:lstStyle/>
          <a:p>
            <a:pPr>
              <a:defRPr sz="1200" b="1">
                <a:solidFill>
                  <a:srgbClr val="0F2E58"/>
                </a:solidFill>
                <a:latin typeface="Arial"/>
              </a:defRPr>
            </a:pPr>
            <a:r>
              <a:t>RMSE</a:t>
            </a:r>
          </a:p>
          <a:p>
            <a:pPr>
              <a:defRPr sz="2200" b="1">
                <a:solidFill>
                  <a:srgbClr val="216BAB"/>
                </a:solidFill>
                <a:latin typeface="Arial"/>
              </a:defRPr>
            </a:pPr>
            <a:r>
              <a:t>0.4899</a:t>
            </a:r>
          </a:p>
          <a:p>
            <a:pPr>
              <a:defRPr sz="1000">
                <a:solidFill>
                  <a:srgbClr val="696969"/>
                </a:solidFill>
                <a:latin typeface="Arial"/>
              </a:defRPr>
            </a:pPr>
            <a:r>
              <a:t>value_log</a:t>
            </a:r>
          </a:p>
        </p:txBody>
      </p:sp>
      <p:sp>
        <p:nvSpPr>
          <p:cNvPr id="18" name="TextBox 17"/>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ĐẶT VẤN ĐỀ VÀ MỤC TIÊU</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Overview</a:t>
            </a:r>
          </a:p>
        </p:txBody>
      </p:sp>
      <p:sp>
        <p:nvSpPr>
          <p:cNvPr id="7" name="TextBox 6"/>
          <p:cNvSpPr txBox="1"/>
          <p:nvPr/>
        </p:nvSpPr>
        <p:spPr>
          <a:xfrm>
            <a:off x="640080" y="868680"/>
            <a:ext cx="5029200" cy="365760"/>
          </a:xfrm>
          <a:prstGeom prst="rect">
            <a:avLst/>
          </a:prstGeom>
          <a:noFill/>
        </p:spPr>
        <p:txBody>
          <a:bodyPr wrap="square">
            <a:spAutoFit/>
          </a:bodyPr>
          <a:lstStyle/>
          <a:p>
            <a:pPr algn="l">
              <a:defRPr sz="2200" b="1">
                <a:solidFill>
                  <a:srgbClr val="0F2E58"/>
                </a:solidFill>
                <a:latin typeface="Arial"/>
              </a:defRPr>
            </a:pPr>
            <a:r>
              <a:t>Bối cảnh bài toán</a:t>
            </a:r>
          </a:p>
        </p:txBody>
      </p:sp>
      <p:sp>
        <p:nvSpPr>
          <p:cNvPr id="8" name="TextBox 7"/>
          <p:cNvSpPr txBox="1"/>
          <p:nvPr/>
        </p:nvSpPr>
        <p:spPr>
          <a:xfrm>
            <a:off x="731520" y="1234440"/>
            <a:ext cx="5212080" cy="219456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Dữ liệu FIFA23 có quy mô rất lớn (~10 triệu dòng, ~5GB), nhiều thuộc tính kỹ năng và tài chính.</a:t>
            </a:r>
          </a:p>
          <a:p>
            <a:pPr>
              <a:spcAft>
                <a:spcPts val="800"/>
              </a:spcAft>
              <a:defRPr sz="1700">
                <a:solidFill>
                  <a:srgbClr val="222222"/>
                </a:solidFill>
                <a:latin typeface="Arial"/>
              </a:defRPr>
            </a:pPr>
            <a:r>
              <a:t>Dữ liệu có độ chiều cao, nhiều nhiễu và giá trị khuyết, gây khó khăn cho phân cụm và dự đoán.</a:t>
            </a:r>
          </a:p>
          <a:p>
            <a:pPr>
              <a:spcAft>
                <a:spcPts val="800"/>
              </a:spcAft>
              <a:defRPr sz="1700">
                <a:solidFill>
                  <a:srgbClr val="222222"/>
                </a:solidFill>
                <a:latin typeface="Arial"/>
              </a:defRPr>
            </a:pPr>
            <a:r>
              <a:t>Cần một phương pháp vừa giảm chiều, vừa giữ lại thông tin quan trọng để mô hình hóa hiệu quả.</a:t>
            </a:r>
          </a:p>
        </p:txBody>
      </p:sp>
      <p:sp>
        <p:nvSpPr>
          <p:cNvPr id="9" name="TextBox 8"/>
          <p:cNvSpPr txBox="1"/>
          <p:nvPr/>
        </p:nvSpPr>
        <p:spPr>
          <a:xfrm>
            <a:off x="640080" y="3657600"/>
            <a:ext cx="5029200" cy="365760"/>
          </a:xfrm>
          <a:prstGeom prst="rect">
            <a:avLst/>
          </a:prstGeom>
          <a:noFill/>
        </p:spPr>
        <p:txBody>
          <a:bodyPr wrap="square">
            <a:spAutoFit/>
          </a:bodyPr>
          <a:lstStyle/>
          <a:p>
            <a:pPr algn="l">
              <a:defRPr sz="2200" b="1">
                <a:solidFill>
                  <a:srgbClr val="0F2E58"/>
                </a:solidFill>
                <a:latin typeface="Arial"/>
              </a:defRPr>
            </a:pPr>
            <a:r>
              <a:t>Mục tiêu nghiên cứu</a:t>
            </a:r>
          </a:p>
        </p:txBody>
      </p:sp>
      <p:sp>
        <p:nvSpPr>
          <p:cNvPr id="10" name="TextBox 9"/>
          <p:cNvSpPr txBox="1"/>
          <p:nvPr/>
        </p:nvSpPr>
        <p:spPr>
          <a:xfrm>
            <a:off x="731520" y="4023360"/>
            <a:ext cx="5303520" cy="201168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Xây dựng pipeline Big Data theo kiến trúc Bronze → Silver → Gold bằng PySpark và Delta Lake.</a:t>
            </a:r>
          </a:p>
          <a:p>
            <a:pPr>
              <a:spcAft>
                <a:spcPts val="800"/>
              </a:spcAft>
              <a:defRPr sz="1700">
                <a:solidFill>
                  <a:srgbClr val="222222"/>
                </a:solidFill>
                <a:latin typeface="Arial"/>
              </a:defRPr>
            </a:pPr>
            <a:r>
              <a:t>Ứng dụng SVD để giảm chiều cho hai hướng: phân cụm cầu thủ và dự đoán giá trị cầu thủ.</a:t>
            </a:r>
          </a:p>
          <a:p>
            <a:pPr>
              <a:spcAft>
                <a:spcPts val="800"/>
              </a:spcAft>
              <a:defRPr sz="1700">
                <a:solidFill>
                  <a:srgbClr val="222222"/>
                </a:solidFill>
                <a:latin typeface="Arial"/>
              </a:defRPr>
            </a:pPr>
            <a:r>
              <a:t>Khai thác thêm bài toán similarity để tìm các cầu thủ có phong cách chơi tương đồng.</a:t>
            </a:r>
          </a:p>
        </p:txBody>
      </p:sp>
      <p:sp>
        <p:nvSpPr>
          <p:cNvPr id="11" name="Rounded Rectangle 10"/>
          <p:cNvSpPr/>
          <p:nvPr/>
        </p:nvSpPr>
        <p:spPr>
          <a:xfrm>
            <a:off x="6309360" y="914400"/>
            <a:ext cx="5212080" cy="521208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1188720"/>
            <a:ext cx="4663440" cy="365760"/>
          </a:xfrm>
          <a:prstGeom prst="rect">
            <a:avLst/>
          </a:prstGeom>
          <a:noFill/>
        </p:spPr>
        <p:txBody>
          <a:bodyPr wrap="square">
            <a:spAutoFit/>
          </a:bodyPr>
          <a:lstStyle/>
          <a:p>
            <a:pPr algn="ctr">
              <a:defRPr sz="2200" b="1">
                <a:solidFill>
                  <a:srgbClr val="0F2E58"/>
                </a:solidFill>
                <a:latin typeface="Arial"/>
              </a:defRPr>
            </a:pPr>
            <a:r>
              <a:t>Câu hỏi nghiên cứu</a:t>
            </a:r>
          </a:p>
        </p:txBody>
      </p:sp>
      <p:sp>
        <p:nvSpPr>
          <p:cNvPr id="13" name="TextBox 12"/>
          <p:cNvSpPr txBox="1"/>
          <p:nvPr/>
        </p:nvSpPr>
        <p:spPr>
          <a:xfrm>
            <a:off x="6629400" y="1737360"/>
            <a:ext cx="4572000" cy="384048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SVD có giúp rút gọn số chiều mà vẫn giữ được phần lớn thông tin hay không?</a:t>
            </a:r>
          </a:p>
          <a:p>
            <a:pPr>
              <a:spcAft>
                <a:spcPts val="800"/>
              </a:spcAft>
              <a:defRPr sz="1700">
                <a:solidFill>
                  <a:srgbClr val="222222"/>
                </a:solidFill>
                <a:latin typeface="Arial"/>
              </a:defRPr>
            </a:pPr>
            <a:r>
              <a:t>Sau giảm chiều, KMeans có tạo ra các nhóm cầu thủ mang ý nghĩa thực tế không?</a:t>
            </a:r>
          </a:p>
          <a:p>
            <a:pPr>
              <a:spcAft>
                <a:spcPts val="800"/>
              </a:spcAft>
              <a:defRPr sz="1700">
                <a:solidFill>
                  <a:srgbClr val="222222"/>
                </a:solidFill>
                <a:latin typeface="Arial"/>
              </a:defRPr>
            </a:pPr>
            <a:r>
              <a:t>Việc dùng SVD trước mô hình GBT có cho độ chính xác dự đoán giá trị cầu thủ tốt không?</a:t>
            </a:r>
          </a:p>
          <a:p>
            <a:pPr>
              <a:spcAft>
                <a:spcPts val="800"/>
              </a:spcAft>
              <a:defRPr sz="1700">
                <a:solidFill>
                  <a:srgbClr val="222222"/>
                </a:solidFill>
                <a:latin typeface="Arial"/>
              </a:defRPr>
            </a:pPr>
            <a:r>
              <a:t>Cosine Similarity trên không gian đặc trưng có hỗ trợ tìm cầu thủ tương tự hợp lý không?</a:t>
            </a:r>
          </a:p>
        </p:txBody>
      </p:sp>
      <p:sp>
        <p:nvSpPr>
          <p:cNvPr id="14" name="TextBox 13"/>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CƠ SỞ LÝ THUYẾT</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Theory</a:t>
            </a:r>
          </a:p>
        </p:txBody>
      </p:sp>
      <p:sp>
        <p:nvSpPr>
          <p:cNvPr id="7" name="TextBox 6"/>
          <p:cNvSpPr txBox="1"/>
          <p:nvPr/>
        </p:nvSpPr>
        <p:spPr>
          <a:xfrm>
            <a:off x="685800" y="914400"/>
            <a:ext cx="5120640" cy="320040"/>
          </a:xfrm>
          <a:prstGeom prst="rect">
            <a:avLst/>
          </a:prstGeom>
          <a:noFill/>
        </p:spPr>
        <p:txBody>
          <a:bodyPr wrap="square">
            <a:spAutoFit/>
          </a:bodyPr>
          <a:lstStyle/>
          <a:p>
            <a:pPr algn="l">
              <a:defRPr sz="2100" b="1">
                <a:solidFill>
                  <a:srgbClr val="0F2E58"/>
                </a:solidFill>
                <a:latin typeface="Arial"/>
              </a:defRPr>
            </a:pPr>
            <a:r>
              <a:t>Dimensionality Reduction</a:t>
            </a:r>
          </a:p>
        </p:txBody>
      </p:sp>
      <p:sp>
        <p:nvSpPr>
          <p:cNvPr id="8" name="TextBox 7"/>
          <p:cNvSpPr txBox="1"/>
          <p:nvPr/>
        </p:nvSpPr>
        <p:spPr>
          <a:xfrm>
            <a:off x="777240" y="1280160"/>
            <a:ext cx="5303520" cy="237744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Là quá trình biến đổi dữ liệu từ không gian nhiều chiều sang không gian ít chiều hơn.</a:t>
            </a:r>
          </a:p>
          <a:p>
            <a:pPr>
              <a:spcAft>
                <a:spcPts val="800"/>
              </a:spcAft>
              <a:defRPr sz="1700">
                <a:solidFill>
                  <a:srgbClr val="222222"/>
                </a:solidFill>
                <a:latin typeface="Arial"/>
              </a:defRPr>
            </a:pPr>
            <a:r>
              <a:t>Mục đích: giảm nhiễu, giảm dư thừa, tăng tốc mô hình và hỗ trợ trực quan hóa.</a:t>
            </a:r>
          </a:p>
          <a:p>
            <a:pPr>
              <a:spcAft>
                <a:spcPts val="800"/>
              </a:spcAft>
              <a:defRPr sz="1700">
                <a:solidFill>
                  <a:srgbClr val="222222"/>
                </a:solidFill>
                <a:latin typeface="Arial"/>
              </a:defRPr>
            </a:pPr>
            <a:r>
              <a:t>Trong đồ án này, giảm chiều được áp dụng trước KMeans và GBT.</a:t>
            </a:r>
          </a:p>
        </p:txBody>
      </p:sp>
      <p:sp>
        <p:nvSpPr>
          <p:cNvPr id="9" name="TextBox 8"/>
          <p:cNvSpPr txBox="1"/>
          <p:nvPr/>
        </p:nvSpPr>
        <p:spPr>
          <a:xfrm>
            <a:off x="685800" y="3794760"/>
            <a:ext cx="5120640" cy="320040"/>
          </a:xfrm>
          <a:prstGeom prst="rect">
            <a:avLst/>
          </a:prstGeom>
          <a:noFill/>
        </p:spPr>
        <p:txBody>
          <a:bodyPr wrap="square">
            <a:spAutoFit/>
          </a:bodyPr>
          <a:lstStyle/>
          <a:p>
            <a:pPr algn="l">
              <a:defRPr sz="2100" b="1">
                <a:solidFill>
                  <a:srgbClr val="0F2E58"/>
                </a:solidFill>
                <a:latin typeface="Arial"/>
              </a:defRPr>
            </a:pPr>
            <a:r>
              <a:t>SVD (Singular Value Decomposition)</a:t>
            </a:r>
          </a:p>
        </p:txBody>
      </p:sp>
      <p:sp>
        <p:nvSpPr>
          <p:cNvPr id="10" name="Rounded Rectangle 9"/>
          <p:cNvSpPr/>
          <p:nvPr/>
        </p:nvSpPr>
        <p:spPr>
          <a:xfrm>
            <a:off x="868680" y="4206240"/>
            <a:ext cx="4754880" cy="109728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480560"/>
            <a:ext cx="4480560" cy="457200"/>
          </a:xfrm>
          <a:prstGeom prst="rect">
            <a:avLst/>
          </a:prstGeom>
          <a:noFill/>
        </p:spPr>
        <p:txBody>
          <a:bodyPr wrap="square">
            <a:spAutoFit/>
          </a:bodyPr>
          <a:lstStyle/>
          <a:p>
            <a:pPr algn="ctr">
              <a:defRPr sz="2800" b="1">
                <a:solidFill>
                  <a:srgbClr val="216BAB"/>
                </a:solidFill>
                <a:latin typeface="Arial"/>
              </a:defRPr>
            </a:pPr>
            <a:r>
              <a:t>X ≈ Uₖ Σₖ Vₖᵀ</a:t>
            </a:r>
          </a:p>
        </p:txBody>
      </p:sp>
      <p:sp>
        <p:nvSpPr>
          <p:cNvPr id="12" name="TextBox 11"/>
          <p:cNvSpPr txBox="1"/>
          <p:nvPr/>
        </p:nvSpPr>
        <p:spPr>
          <a:xfrm>
            <a:off x="960120" y="4983480"/>
            <a:ext cx="4572000" cy="228600"/>
          </a:xfrm>
          <a:prstGeom prst="rect">
            <a:avLst/>
          </a:prstGeom>
          <a:noFill/>
        </p:spPr>
        <p:txBody>
          <a:bodyPr wrap="square">
            <a:spAutoFit/>
          </a:bodyPr>
          <a:lstStyle/>
          <a:p>
            <a:pPr algn="ctr">
              <a:defRPr sz="1400" b="0">
                <a:solidFill>
                  <a:srgbClr val="696969"/>
                </a:solidFill>
                <a:latin typeface="Arial"/>
              </a:defRPr>
            </a:pPr>
            <a:r>
              <a:t>Giữ lại k thành phần mang nhiều thông tin nhất.</a:t>
            </a:r>
          </a:p>
        </p:txBody>
      </p:sp>
      <p:sp>
        <p:nvSpPr>
          <p:cNvPr id="13" name="Rounded Rectangle 12"/>
          <p:cNvSpPr/>
          <p:nvPr/>
        </p:nvSpPr>
        <p:spPr>
          <a:xfrm>
            <a:off x="6217920" y="1005840"/>
            <a:ext cx="5212080" cy="4480560"/>
          </a:xfrm>
          <a:prstGeom prst="roundRect">
            <a:avLst/>
          </a:prstGeom>
          <a:solidFill>
            <a:srgbClr val="FFFF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234440"/>
            <a:ext cx="4572000" cy="365760"/>
          </a:xfrm>
          <a:prstGeom prst="rect">
            <a:avLst/>
          </a:prstGeom>
          <a:noFill/>
        </p:spPr>
        <p:txBody>
          <a:bodyPr wrap="square">
            <a:spAutoFit/>
          </a:bodyPr>
          <a:lstStyle/>
          <a:p>
            <a:pPr algn="ctr">
              <a:defRPr sz="2200" b="1">
                <a:solidFill>
                  <a:srgbClr val="0F2E58"/>
                </a:solidFill>
                <a:latin typeface="Arial"/>
              </a:defRPr>
            </a:pPr>
            <a:r>
              <a:t>Lý do chọn SVD</a:t>
            </a:r>
          </a:p>
        </p:txBody>
      </p:sp>
      <p:sp>
        <p:nvSpPr>
          <p:cNvPr id="15" name="TextBox 14"/>
          <p:cNvSpPr txBox="1"/>
          <p:nvPr/>
        </p:nvSpPr>
        <p:spPr>
          <a:xfrm>
            <a:off x="6537960" y="1783080"/>
            <a:ext cx="4480560" cy="329184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Giảm số chiều nhưng vẫn bảo toàn phần lớn phương sai dữ liệu.</a:t>
            </a:r>
          </a:p>
          <a:p>
            <a:pPr>
              <a:spcAft>
                <a:spcPts val="800"/>
              </a:spcAft>
              <a:defRPr sz="1700">
                <a:solidFill>
                  <a:srgbClr val="222222"/>
                </a:solidFill>
                <a:latin typeface="Arial"/>
              </a:defRPr>
            </a:pPr>
            <a:r>
              <a:t>Loại bỏ bớt nhiễu, hạn chế overfitting cho mô hình dự đoán.</a:t>
            </a:r>
          </a:p>
          <a:p>
            <a:pPr>
              <a:spcAft>
                <a:spcPts val="800"/>
              </a:spcAft>
              <a:defRPr sz="1700">
                <a:solidFill>
                  <a:srgbClr val="222222"/>
                </a:solidFill>
                <a:latin typeface="Arial"/>
              </a:defRPr>
            </a:pPr>
            <a:r>
              <a:t>Tạo không gian latent giúp phân cụm rõ hơn và trực quan hóa 2D/3D tốt hơn.</a:t>
            </a:r>
          </a:p>
          <a:p>
            <a:pPr>
              <a:spcAft>
                <a:spcPts val="800"/>
              </a:spcAft>
              <a:defRPr sz="1700">
                <a:solidFill>
                  <a:srgbClr val="222222"/>
                </a:solidFill>
                <a:latin typeface="Arial"/>
              </a:defRPr>
            </a:pPr>
            <a:r>
              <a:t>Trong Spark ML, PCA được triển khai dựa trên SVD nên có thể xem là tương đương trong pipeline này.</a:t>
            </a:r>
          </a:p>
        </p:txBody>
      </p:sp>
      <p:sp>
        <p:nvSpPr>
          <p:cNvPr id="16" name="TextBox 15"/>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DỮ LIỆU VÀ CÔNG NGHỆ</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Dataset &amp; Stack</a:t>
            </a:r>
          </a:p>
        </p:txBody>
      </p:sp>
      <p:graphicFrame>
        <p:nvGraphicFramePr>
          <p:cNvPr id="7" name="Table 6"/>
          <p:cNvGraphicFramePr>
            <a:graphicFrameLocks noGrp="1"/>
          </p:cNvGraphicFramePr>
          <p:nvPr/>
        </p:nvGraphicFramePr>
        <p:xfrm>
          <a:off x="640080" y="1005840"/>
          <a:ext cx="5486400" cy="34594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80060">
                <a:tc>
                  <a:txBody>
                    <a:bodyPr/>
                    <a:lstStyle/>
                    <a:p>
                      <a:pPr algn="ctr">
                        <a:defRPr sz="1400" b="1">
                          <a:solidFill>
                            <a:srgbClr val="FFFFFF"/>
                          </a:solidFill>
                          <a:latin typeface="Arial"/>
                        </a:defRPr>
                      </a:pPr>
                      <a:r>
                        <a:t>Thành phần</a:t>
                      </a:r>
                    </a:p>
                  </a:txBody>
                  <a:tcPr>
                    <a:solidFill>
                      <a:srgbClr val="0F2E58"/>
                    </a:solidFill>
                  </a:tcPr>
                </a:tc>
                <a:tc>
                  <a:txBody>
                    <a:bodyPr/>
                    <a:lstStyle/>
                    <a:p>
                      <a:pPr algn="ctr">
                        <a:defRPr sz="1400" b="1">
                          <a:solidFill>
                            <a:srgbClr val="FFFFFF"/>
                          </a:solidFill>
                          <a:latin typeface="Arial"/>
                        </a:defRPr>
                      </a:pPr>
                      <a:r>
                        <a:t>Thông tin</a:t>
                      </a:r>
                    </a:p>
                  </a:txBody>
                  <a:tcPr>
                    <a:solidFill>
                      <a:srgbClr val="0F2E58"/>
                    </a:solidFill>
                  </a:tcPr>
                </a:tc>
                <a:extLst>
                  <a:ext uri="{0D108BD9-81ED-4DB2-BD59-A6C34878D82A}">
                    <a16:rowId xmlns:a16="http://schemas.microsoft.com/office/drawing/2014/main" val="10000"/>
                  </a:ext>
                </a:extLst>
              </a:tr>
              <a:tr h="480060">
                <a:tc>
                  <a:txBody>
                    <a:bodyPr/>
                    <a:lstStyle/>
                    <a:p>
                      <a:pPr algn="l">
                        <a:defRPr sz="1400">
                          <a:solidFill>
                            <a:srgbClr val="222222"/>
                          </a:solidFill>
                          <a:latin typeface="Arial"/>
                        </a:defRPr>
                      </a:pPr>
                      <a:r>
                        <a:t>Dataset chính</a:t>
                      </a:r>
                    </a:p>
                  </a:txBody>
                  <a:tcPr>
                    <a:solidFill>
                      <a:srgbClr val="FFFFFF"/>
                    </a:solidFill>
                  </a:tcPr>
                </a:tc>
                <a:tc>
                  <a:txBody>
                    <a:bodyPr/>
                    <a:lstStyle/>
                    <a:p>
                      <a:pPr algn="l">
                        <a:defRPr sz="1400">
                          <a:solidFill>
                            <a:srgbClr val="222222"/>
                          </a:solidFill>
                          <a:latin typeface="Arial"/>
                        </a:defRPr>
                      </a:pPr>
                      <a:r>
                        <a:t>FIFA23 Male Players + Male Teams</a:t>
                      </a:r>
                    </a:p>
                  </a:txBody>
                  <a:tcPr>
                    <a:solidFill>
                      <a:srgbClr val="FFFFFF"/>
                    </a:solidFill>
                  </a:tcPr>
                </a:tc>
                <a:extLst>
                  <a:ext uri="{0D108BD9-81ED-4DB2-BD59-A6C34878D82A}">
                    <a16:rowId xmlns:a16="http://schemas.microsoft.com/office/drawing/2014/main" val="10001"/>
                  </a:ext>
                </a:extLst>
              </a:tr>
              <a:tr h="480060">
                <a:tc>
                  <a:txBody>
                    <a:bodyPr/>
                    <a:lstStyle/>
                    <a:p>
                      <a:pPr algn="l">
                        <a:defRPr sz="1400">
                          <a:solidFill>
                            <a:srgbClr val="222222"/>
                          </a:solidFill>
                          <a:latin typeface="Arial"/>
                        </a:defRPr>
                      </a:pPr>
                      <a:r>
                        <a:t>Quy mô dữ liệu</a:t>
                      </a:r>
                    </a:p>
                  </a:txBody>
                  <a:tcPr>
                    <a:solidFill>
                      <a:srgbClr val="F5F7FA"/>
                    </a:solidFill>
                  </a:tcPr>
                </a:tc>
                <a:tc>
                  <a:txBody>
                    <a:bodyPr/>
                    <a:lstStyle/>
                    <a:p>
                      <a:pPr algn="l">
                        <a:defRPr sz="1400">
                          <a:solidFill>
                            <a:srgbClr val="222222"/>
                          </a:solidFill>
                          <a:latin typeface="Arial"/>
                        </a:defRPr>
                      </a:pPr>
                      <a:r>
                        <a:t>~10.003.590 dòng cầu thủ; 385.055 dòng đội</a:t>
                      </a:r>
                    </a:p>
                  </a:txBody>
                  <a:tcPr>
                    <a:solidFill>
                      <a:srgbClr val="F5F7FA"/>
                    </a:solidFill>
                  </a:tcPr>
                </a:tc>
                <a:extLst>
                  <a:ext uri="{0D108BD9-81ED-4DB2-BD59-A6C34878D82A}">
                    <a16:rowId xmlns:a16="http://schemas.microsoft.com/office/drawing/2014/main" val="10002"/>
                  </a:ext>
                </a:extLst>
              </a:tr>
              <a:tr h="480060">
                <a:tc>
                  <a:txBody>
                    <a:bodyPr/>
                    <a:lstStyle/>
                    <a:p>
                      <a:pPr algn="l">
                        <a:defRPr sz="1400">
                          <a:solidFill>
                            <a:srgbClr val="222222"/>
                          </a:solidFill>
                          <a:latin typeface="Arial"/>
                        </a:defRPr>
                      </a:pPr>
                      <a:r>
                        <a:t>Số cột players</a:t>
                      </a:r>
                    </a:p>
                  </a:txBody>
                  <a:tcPr>
                    <a:solidFill>
                      <a:srgbClr val="FFFFFF"/>
                    </a:solidFill>
                  </a:tcPr>
                </a:tc>
                <a:tc>
                  <a:txBody>
                    <a:bodyPr/>
                    <a:lstStyle/>
                    <a:p>
                      <a:pPr algn="l">
                        <a:defRPr sz="1400">
                          <a:solidFill>
                            <a:srgbClr val="222222"/>
                          </a:solidFill>
                          <a:latin typeface="Arial"/>
                        </a:defRPr>
                      </a:pPr>
                      <a:r>
                        <a:t>110 thuộc tính</a:t>
                      </a:r>
                    </a:p>
                  </a:txBody>
                  <a:tcPr>
                    <a:solidFill>
                      <a:srgbClr val="FFFFFF"/>
                    </a:solidFill>
                  </a:tcPr>
                </a:tc>
                <a:extLst>
                  <a:ext uri="{0D108BD9-81ED-4DB2-BD59-A6C34878D82A}">
                    <a16:rowId xmlns:a16="http://schemas.microsoft.com/office/drawing/2014/main" val="10003"/>
                  </a:ext>
                </a:extLst>
              </a:tr>
              <a:tr h="480060">
                <a:tc>
                  <a:txBody>
                    <a:bodyPr/>
                    <a:lstStyle/>
                    <a:p>
                      <a:pPr algn="l">
                        <a:defRPr sz="1400">
                          <a:solidFill>
                            <a:srgbClr val="222222"/>
                          </a:solidFill>
                          <a:latin typeface="Arial"/>
                        </a:defRPr>
                      </a:pPr>
                      <a:r>
                        <a:t>Thuộc tính chính</a:t>
                      </a:r>
                    </a:p>
                  </a:txBody>
                  <a:tcPr>
                    <a:solidFill>
                      <a:srgbClr val="F5F7FA"/>
                    </a:solidFill>
                  </a:tcPr>
                </a:tc>
                <a:tc>
                  <a:txBody>
                    <a:bodyPr/>
                    <a:lstStyle/>
                    <a:p>
                      <a:pPr algn="l">
                        <a:defRPr sz="1400">
                          <a:solidFill>
                            <a:srgbClr val="222222"/>
                          </a:solidFill>
                          <a:latin typeface="Arial"/>
                        </a:defRPr>
                      </a:pPr>
                      <a:r>
                        <a:t>overall, potential, value_eur, pace, shooting, passing, dribbling, defending, physic</a:t>
                      </a:r>
                    </a:p>
                  </a:txBody>
                  <a:tcPr>
                    <a:solidFill>
                      <a:srgbClr val="F5F7FA"/>
                    </a:solidFill>
                  </a:tcPr>
                </a:tc>
                <a:extLst>
                  <a:ext uri="{0D108BD9-81ED-4DB2-BD59-A6C34878D82A}">
                    <a16:rowId xmlns:a16="http://schemas.microsoft.com/office/drawing/2014/main" val="10004"/>
                  </a:ext>
                </a:extLst>
              </a:tr>
              <a:tr h="480060">
                <a:tc>
                  <a:txBody>
                    <a:bodyPr/>
                    <a:lstStyle/>
                    <a:p>
                      <a:pPr algn="l">
                        <a:defRPr sz="1400">
                          <a:solidFill>
                            <a:srgbClr val="222222"/>
                          </a:solidFill>
                          <a:latin typeface="Arial"/>
                        </a:defRPr>
                      </a:pPr>
                      <a:r>
                        <a:t>Mục tiêu phân tích</a:t>
                      </a:r>
                    </a:p>
                  </a:txBody>
                  <a:tcPr>
                    <a:solidFill>
                      <a:srgbClr val="FFFFFF"/>
                    </a:solidFill>
                  </a:tcPr>
                </a:tc>
                <a:tc>
                  <a:txBody>
                    <a:bodyPr/>
                    <a:lstStyle/>
                    <a:p>
                      <a:pPr algn="l">
                        <a:defRPr sz="1400">
                          <a:solidFill>
                            <a:srgbClr val="222222"/>
                          </a:solidFill>
                          <a:latin typeface="Arial"/>
                        </a:defRPr>
                      </a:pPr>
                      <a:r>
                        <a:t>Phân cụm phong cách chơi, tìm cầu thủ tương tự, dự đoán value_eur</a:t>
                      </a:r>
                    </a:p>
                  </a:txBody>
                  <a:tcPr>
                    <a:solidFill>
                      <a:srgbClr val="FFFFFF"/>
                    </a:solidFill>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nvGraphicFramePr>
        <p:xfrm>
          <a:off x="6492240" y="1005840"/>
          <a:ext cx="5029200" cy="28803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480060">
                <a:tc>
                  <a:txBody>
                    <a:bodyPr/>
                    <a:lstStyle/>
                    <a:p>
                      <a:pPr algn="ctr">
                        <a:defRPr sz="1400" b="1">
                          <a:solidFill>
                            <a:srgbClr val="FFFFFF"/>
                          </a:solidFill>
                          <a:latin typeface="Arial"/>
                        </a:defRPr>
                      </a:pPr>
                      <a:r>
                        <a:t>Công nghệ</a:t>
                      </a:r>
                    </a:p>
                  </a:txBody>
                  <a:tcPr>
                    <a:solidFill>
                      <a:srgbClr val="0F2E58"/>
                    </a:solidFill>
                  </a:tcPr>
                </a:tc>
                <a:tc>
                  <a:txBody>
                    <a:bodyPr/>
                    <a:lstStyle/>
                    <a:p>
                      <a:pPr algn="ctr">
                        <a:defRPr sz="1400" b="1">
                          <a:solidFill>
                            <a:srgbClr val="FFFFFF"/>
                          </a:solidFill>
                          <a:latin typeface="Arial"/>
                        </a:defRPr>
                      </a:pPr>
                      <a:r>
                        <a:t>Vai trò</a:t>
                      </a:r>
                    </a:p>
                  </a:txBody>
                  <a:tcPr>
                    <a:solidFill>
                      <a:srgbClr val="0F2E58"/>
                    </a:solidFill>
                  </a:tcPr>
                </a:tc>
                <a:extLst>
                  <a:ext uri="{0D108BD9-81ED-4DB2-BD59-A6C34878D82A}">
                    <a16:rowId xmlns:a16="http://schemas.microsoft.com/office/drawing/2014/main" val="10000"/>
                  </a:ext>
                </a:extLst>
              </a:tr>
              <a:tr h="480060">
                <a:tc>
                  <a:txBody>
                    <a:bodyPr/>
                    <a:lstStyle/>
                    <a:p>
                      <a:pPr algn="l">
                        <a:defRPr sz="1400">
                          <a:solidFill>
                            <a:srgbClr val="222222"/>
                          </a:solidFill>
                          <a:latin typeface="Arial"/>
                        </a:defRPr>
                      </a:pPr>
                      <a:r>
                        <a:t>PySpark 3.5</a:t>
                      </a:r>
                    </a:p>
                  </a:txBody>
                  <a:tcPr>
                    <a:solidFill>
                      <a:srgbClr val="FFFFFF"/>
                    </a:solidFill>
                  </a:tcPr>
                </a:tc>
                <a:tc>
                  <a:txBody>
                    <a:bodyPr/>
                    <a:lstStyle/>
                    <a:p>
                      <a:pPr algn="l">
                        <a:defRPr sz="1400">
                          <a:solidFill>
                            <a:srgbClr val="222222"/>
                          </a:solidFill>
                          <a:latin typeface="Arial"/>
                        </a:defRPr>
                      </a:pPr>
                      <a:r>
                        <a:t>Xử lý dữ liệu phân tán</a:t>
                      </a:r>
                    </a:p>
                  </a:txBody>
                  <a:tcPr>
                    <a:solidFill>
                      <a:srgbClr val="FFFFFF"/>
                    </a:solidFill>
                  </a:tcPr>
                </a:tc>
                <a:extLst>
                  <a:ext uri="{0D108BD9-81ED-4DB2-BD59-A6C34878D82A}">
                    <a16:rowId xmlns:a16="http://schemas.microsoft.com/office/drawing/2014/main" val="10001"/>
                  </a:ext>
                </a:extLst>
              </a:tr>
              <a:tr h="480060">
                <a:tc>
                  <a:txBody>
                    <a:bodyPr/>
                    <a:lstStyle/>
                    <a:p>
                      <a:pPr algn="l">
                        <a:defRPr sz="1400">
                          <a:solidFill>
                            <a:srgbClr val="222222"/>
                          </a:solidFill>
                          <a:latin typeface="Arial"/>
                        </a:defRPr>
                      </a:pPr>
                      <a:r>
                        <a:t>Delta Lake</a:t>
                      </a:r>
                    </a:p>
                  </a:txBody>
                  <a:tcPr>
                    <a:solidFill>
                      <a:srgbClr val="F5F7FA"/>
                    </a:solidFill>
                  </a:tcPr>
                </a:tc>
                <a:tc>
                  <a:txBody>
                    <a:bodyPr/>
                    <a:lstStyle/>
                    <a:p>
                      <a:pPr algn="l">
                        <a:defRPr sz="1400">
                          <a:solidFill>
                            <a:srgbClr val="222222"/>
                          </a:solidFill>
                          <a:latin typeface="Arial"/>
                        </a:defRPr>
                      </a:pPr>
                      <a:r>
                        <a:t>Lưu trữ Bronze/Silver/Gold</a:t>
                      </a:r>
                    </a:p>
                  </a:txBody>
                  <a:tcPr>
                    <a:solidFill>
                      <a:srgbClr val="F5F7FA"/>
                    </a:solidFill>
                  </a:tcPr>
                </a:tc>
                <a:extLst>
                  <a:ext uri="{0D108BD9-81ED-4DB2-BD59-A6C34878D82A}">
                    <a16:rowId xmlns:a16="http://schemas.microsoft.com/office/drawing/2014/main" val="10002"/>
                  </a:ext>
                </a:extLst>
              </a:tr>
              <a:tr h="480060">
                <a:tc>
                  <a:txBody>
                    <a:bodyPr/>
                    <a:lstStyle/>
                    <a:p>
                      <a:pPr algn="l">
                        <a:defRPr sz="1400">
                          <a:solidFill>
                            <a:srgbClr val="222222"/>
                          </a:solidFill>
                          <a:latin typeface="Arial"/>
                        </a:defRPr>
                      </a:pPr>
                      <a:r>
                        <a:t>Spark ML</a:t>
                      </a:r>
                    </a:p>
                  </a:txBody>
                  <a:tcPr>
                    <a:solidFill>
                      <a:srgbClr val="FFFFFF"/>
                    </a:solidFill>
                  </a:tcPr>
                </a:tc>
                <a:tc>
                  <a:txBody>
                    <a:bodyPr/>
                    <a:lstStyle/>
                    <a:p>
                      <a:pPr algn="l">
                        <a:defRPr sz="1400">
                          <a:solidFill>
                            <a:srgbClr val="222222"/>
                          </a:solidFill>
                          <a:latin typeface="Arial"/>
                        </a:defRPr>
                      </a:pPr>
                      <a:r>
                        <a:t>SVD/PCA, KMeans, GBT</a:t>
                      </a:r>
                    </a:p>
                  </a:txBody>
                  <a:tcPr>
                    <a:solidFill>
                      <a:srgbClr val="FFFFFF"/>
                    </a:solidFill>
                  </a:tcPr>
                </a:tc>
                <a:extLst>
                  <a:ext uri="{0D108BD9-81ED-4DB2-BD59-A6C34878D82A}">
                    <a16:rowId xmlns:a16="http://schemas.microsoft.com/office/drawing/2014/main" val="10003"/>
                  </a:ext>
                </a:extLst>
              </a:tr>
              <a:tr h="480060">
                <a:tc>
                  <a:txBody>
                    <a:bodyPr/>
                    <a:lstStyle/>
                    <a:p>
                      <a:pPr algn="l">
                        <a:defRPr sz="1400">
                          <a:solidFill>
                            <a:srgbClr val="222222"/>
                          </a:solidFill>
                          <a:latin typeface="Arial"/>
                        </a:defRPr>
                      </a:pPr>
                      <a:r>
                        <a:t>Pandas/Matplotlib/Plotly</a:t>
                      </a:r>
                    </a:p>
                  </a:txBody>
                  <a:tcPr>
                    <a:solidFill>
                      <a:srgbClr val="F5F7FA"/>
                    </a:solidFill>
                  </a:tcPr>
                </a:tc>
                <a:tc>
                  <a:txBody>
                    <a:bodyPr/>
                    <a:lstStyle/>
                    <a:p>
                      <a:pPr algn="l">
                        <a:defRPr sz="1400">
                          <a:solidFill>
                            <a:srgbClr val="222222"/>
                          </a:solidFill>
                          <a:latin typeface="Arial"/>
                        </a:defRPr>
                      </a:pPr>
                      <a:r>
                        <a:t>Trực quan hóa</a:t>
                      </a:r>
                    </a:p>
                  </a:txBody>
                  <a:tcPr>
                    <a:solidFill>
                      <a:srgbClr val="F5F7FA"/>
                    </a:solidFill>
                  </a:tcPr>
                </a:tc>
                <a:extLst>
                  <a:ext uri="{0D108BD9-81ED-4DB2-BD59-A6C34878D82A}">
                    <a16:rowId xmlns:a16="http://schemas.microsoft.com/office/drawing/2014/main" val="10004"/>
                  </a:ext>
                </a:extLst>
              </a:tr>
              <a:tr h="480060">
                <a:tc>
                  <a:txBody>
                    <a:bodyPr/>
                    <a:lstStyle/>
                    <a:p>
                      <a:pPr algn="l">
                        <a:defRPr sz="1400">
                          <a:solidFill>
                            <a:srgbClr val="222222"/>
                          </a:solidFill>
                          <a:latin typeface="Arial"/>
                        </a:defRPr>
                      </a:pPr>
                      <a:r>
                        <a:t>Google Drive</a:t>
                      </a:r>
                    </a:p>
                  </a:txBody>
                  <a:tcPr>
                    <a:solidFill>
                      <a:srgbClr val="FFFFFF"/>
                    </a:solidFill>
                  </a:tcPr>
                </a:tc>
                <a:tc>
                  <a:txBody>
                    <a:bodyPr/>
                    <a:lstStyle/>
                    <a:p>
                      <a:pPr algn="l">
                        <a:defRPr sz="1400">
                          <a:solidFill>
                            <a:srgbClr val="222222"/>
                          </a:solidFill>
                          <a:latin typeface="Arial"/>
                        </a:defRPr>
                      </a:pPr>
                      <a:r>
                        <a:t>Lưu trữ dataset và model</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731520" y="4206240"/>
            <a:ext cx="10972800" cy="365760"/>
          </a:xfrm>
          <a:prstGeom prst="rect">
            <a:avLst/>
          </a:prstGeom>
          <a:noFill/>
        </p:spPr>
        <p:txBody>
          <a:bodyPr wrap="square">
            <a:spAutoFit/>
          </a:bodyPr>
          <a:lstStyle/>
          <a:p>
            <a:pPr algn="l">
              <a:defRPr sz="2100" b="1">
                <a:solidFill>
                  <a:srgbClr val="0F2E58"/>
                </a:solidFill>
                <a:latin typeface="Arial"/>
              </a:defRPr>
            </a:pPr>
            <a:r>
              <a:t>Các đặc điểm dữ liệu nổi bật</a:t>
            </a:r>
          </a:p>
        </p:txBody>
      </p:sp>
      <p:sp>
        <p:nvSpPr>
          <p:cNvPr id="10" name="TextBox 9"/>
          <p:cNvSpPr txBox="1"/>
          <p:nvPr/>
        </p:nvSpPr>
        <p:spPr>
          <a:xfrm>
            <a:off x="868680" y="4572000"/>
            <a:ext cx="10972800" cy="137160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Dữ liệu lớn, nhiều bản ghi lặp theo thời gian/cập nhật → phù hợp tiếp cận Big Data.</a:t>
            </a:r>
          </a:p>
          <a:p>
            <a:pPr>
              <a:spcAft>
                <a:spcPts val="800"/>
              </a:spcAft>
              <a:defRPr sz="1700">
                <a:solidFill>
                  <a:srgbClr val="222222"/>
                </a:solidFill>
                <a:latin typeface="Arial"/>
              </a:defRPr>
            </a:pPr>
            <a:r>
              <a:t>Một số cột kỹ năng có tỷ lệ khuyết khoảng 11.21%; cột value_eur và wage_eur cũng có missing nhẹ.</a:t>
            </a:r>
          </a:p>
          <a:p>
            <a:pPr>
              <a:spcAft>
                <a:spcPts val="800"/>
              </a:spcAft>
              <a:defRPr sz="1700">
                <a:solidFill>
                  <a:srgbClr val="222222"/>
                </a:solidFill>
                <a:latin typeface="Arial"/>
              </a:defRPr>
            </a:pPr>
            <a:r>
              <a:t>Biến giá trị cầu thủ phân bố lệch mạnh, do đó sử dụng value_log giúp ổn định hơn cho prediction.</a:t>
            </a:r>
          </a:p>
        </p:txBody>
      </p:sp>
      <p:sp>
        <p:nvSpPr>
          <p:cNvPr id="11" name="TextBox 10"/>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KIẾN TRÚC TỔNG THỂ HỆ THỐNG</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Architecture</a:t>
            </a:r>
          </a:p>
        </p:txBody>
      </p:sp>
      <p:pic>
        <p:nvPicPr>
          <p:cNvPr id="7" name="Picture 6" descr="so_do_pipeline_tong_quat.png"/>
          <p:cNvPicPr>
            <a:picLocks noChangeAspect="1"/>
          </p:cNvPicPr>
          <p:nvPr/>
        </p:nvPicPr>
        <p:blipFill>
          <a:blip r:embed="rId2"/>
          <a:stretch>
            <a:fillRect/>
          </a:stretch>
        </p:blipFill>
        <p:spPr>
          <a:xfrm>
            <a:off x="685800" y="1005840"/>
            <a:ext cx="10881360" cy="3611685"/>
          </a:xfrm>
          <a:prstGeom prst="rect">
            <a:avLst/>
          </a:prstGeom>
        </p:spPr>
      </p:pic>
      <p:sp>
        <p:nvSpPr>
          <p:cNvPr id="8" name="Rounded Rectangle 7"/>
          <p:cNvSpPr/>
          <p:nvPr/>
        </p:nvSpPr>
        <p:spPr>
          <a:xfrm>
            <a:off x="1554480" y="4937760"/>
            <a:ext cx="9144000" cy="96012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783080" y="5148072"/>
            <a:ext cx="8686800" cy="502920"/>
          </a:xfrm>
          <a:prstGeom prst="rect">
            <a:avLst/>
          </a:prstGeom>
          <a:noFill/>
        </p:spPr>
        <p:txBody>
          <a:bodyPr wrap="square">
            <a:spAutoFit/>
          </a:bodyPr>
          <a:lstStyle/>
          <a:p>
            <a:pPr algn="ctr">
              <a:defRPr sz="1700" b="0">
                <a:solidFill>
                  <a:srgbClr val="222222"/>
                </a:solidFill>
                <a:latin typeface="Arial"/>
              </a:defRPr>
            </a:pPr>
            <a:r>
              <a:t>Pipeline gồm 3 tầng dữ liệu Bronze – Silver – Gold. Từ Gold, hệ thống triển khai 3 hướng phân tích chính: Clustering, Similarity và Prediction.</a:t>
            </a:r>
          </a:p>
        </p:txBody>
      </p:sp>
      <p:sp>
        <p:nvSpPr>
          <p:cNvPr id="10" name="TextBox 9"/>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QUY TRÌNH NGHIÊN CỨU</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Workflow</a:t>
            </a:r>
          </a:p>
        </p:txBody>
      </p:sp>
      <p:pic>
        <p:nvPicPr>
          <p:cNvPr id="7" name="Picture 6" descr="quy_trinh_nghien_cuu.png"/>
          <p:cNvPicPr>
            <a:picLocks noChangeAspect="1"/>
          </p:cNvPicPr>
          <p:nvPr/>
        </p:nvPicPr>
        <p:blipFill>
          <a:blip r:embed="rId2"/>
          <a:stretch>
            <a:fillRect/>
          </a:stretch>
        </p:blipFill>
        <p:spPr>
          <a:xfrm>
            <a:off x="548640" y="960120"/>
            <a:ext cx="11064240" cy="3627620"/>
          </a:xfrm>
          <a:prstGeom prst="rect">
            <a:avLst/>
          </a:prstGeom>
        </p:spPr>
      </p:pic>
      <p:sp>
        <p:nvSpPr>
          <p:cNvPr id="8" name="TextBox 7"/>
          <p:cNvSpPr txBox="1"/>
          <p:nvPr/>
        </p:nvSpPr>
        <p:spPr>
          <a:xfrm>
            <a:off x="822960" y="5047488"/>
            <a:ext cx="10607040" cy="640080"/>
          </a:xfrm>
          <a:prstGeom prst="rect">
            <a:avLst/>
          </a:prstGeom>
          <a:noFill/>
        </p:spPr>
        <p:txBody>
          <a:bodyPr wrap="square">
            <a:spAutoFit/>
          </a:bodyPr>
          <a:lstStyle/>
          <a:p>
            <a:pPr algn="ctr">
              <a:defRPr sz="1700" b="0">
                <a:solidFill>
                  <a:srgbClr val="222222"/>
                </a:solidFill>
                <a:latin typeface="Arial"/>
              </a:defRPr>
            </a:pPr>
            <a:r>
              <a:t>Quy trình nghiên cứu bắt đầu từ nạp dữ liệu thô, khám phá dữ liệu, làm sạch, xây dựng Gold datasets, áp dụng SVD, sau đó triển khai KMeans, Cosine Similarity và GBT để đánh giá hiệu quả.</a:t>
            </a:r>
          </a:p>
        </p:txBody>
      </p:sp>
      <p:sp>
        <p:nvSpPr>
          <p:cNvPr id="9" name="TextBox 8"/>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7</a:t>
            </a:r>
          </a:p>
        </p:txBody>
      </p:sp>
      <p:sp>
        <p:nvSpPr>
          <p:cNvPr id="10" name="Rectangle 9"/>
          <p:cNvSpPr/>
          <p:nvPr/>
        </p:nvSpPr>
        <p:spPr>
          <a:xfrm>
            <a:off x="411480" y="777240"/>
            <a:ext cx="11384280" cy="5440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quy_trinh_nghien_cuu_spaced.png"/>
          <p:cNvPicPr>
            <a:picLocks noChangeAspect="1"/>
          </p:cNvPicPr>
          <p:nvPr/>
        </p:nvPicPr>
        <p:blipFill>
          <a:blip r:embed="rId3"/>
          <a:stretch>
            <a:fillRect/>
          </a:stretch>
        </p:blipFill>
        <p:spPr>
          <a:xfrm>
            <a:off x="685800" y="1097280"/>
            <a:ext cx="10789920" cy="5394960"/>
          </a:xfrm>
          <a:prstGeom prst="rect">
            <a:avLst/>
          </a:prstGeom>
        </p:spPr>
      </p:pic>
      <p:sp>
        <p:nvSpPr>
          <p:cNvPr id="12" name="Rounded Rectangle 11"/>
          <p:cNvSpPr/>
          <p:nvPr/>
        </p:nvSpPr>
        <p:spPr>
          <a:xfrm>
            <a:off x="1005840" y="5486400"/>
            <a:ext cx="10058400" cy="50292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5596128"/>
            <a:ext cx="9784080" cy="256032"/>
          </a:xfrm>
          <a:prstGeom prst="rect">
            <a:avLst/>
          </a:prstGeom>
          <a:noFill/>
        </p:spPr>
        <p:txBody>
          <a:bodyPr wrap="none">
            <a:spAutoFit/>
          </a:bodyPr>
          <a:lstStyle/>
          <a:p>
            <a:pPr algn="ctr">
              <a:defRPr sz="1400">
                <a:solidFill>
                  <a:srgbClr val="222222"/>
                </a:solidFill>
                <a:latin typeface="Arial"/>
              </a:defRPr>
            </a:pPr>
            <a:r>
              <a:t>Quy trình nghiên cứu đã được giãn khoảng cách giữa các bước để tăng độ rõ và dễ theo dõi khi trình chiếu.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TIỀN XỬ LÝ DỮ LIỆU THEO 3 TẦNG</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Bronze • Silver • Gold</a:t>
            </a:r>
          </a:p>
        </p:txBody>
      </p:sp>
      <p:graphicFrame>
        <p:nvGraphicFramePr>
          <p:cNvPr id="7" name="Table 6"/>
          <p:cNvGraphicFramePr>
            <a:graphicFrameLocks noGrp="1"/>
          </p:cNvGraphicFramePr>
          <p:nvPr/>
        </p:nvGraphicFramePr>
        <p:xfrm>
          <a:off x="502920" y="914400"/>
          <a:ext cx="11155680" cy="3291840"/>
        </p:xfrm>
        <a:graphic>
          <a:graphicData uri="http://schemas.openxmlformats.org/drawingml/2006/table">
            <a:tbl>
              <a:tblPr firstRow="1" bandRow="1">
                <a:tableStyleId>{5C22544A-7EE6-4342-B048-85BDC9FD1C3A}</a:tableStyleId>
              </a:tblPr>
              <a:tblGrid>
                <a:gridCol w="3718560">
                  <a:extLst>
                    <a:ext uri="{9D8B030D-6E8A-4147-A177-3AD203B41FA5}">
                      <a16:colId xmlns:a16="http://schemas.microsoft.com/office/drawing/2014/main" val="20000"/>
                    </a:ext>
                  </a:extLst>
                </a:gridCol>
                <a:gridCol w="3718560">
                  <a:extLst>
                    <a:ext uri="{9D8B030D-6E8A-4147-A177-3AD203B41FA5}">
                      <a16:colId xmlns:a16="http://schemas.microsoft.com/office/drawing/2014/main" val="20001"/>
                    </a:ext>
                  </a:extLst>
                </a:gridCol>
                <a:gridCol w="3718560">
                  <a:extLst>
                    <a:ext uri="{9D8B030D-6E8A-4147-A177-3AD203B41FA5}">
                      <a16:colId xmlns:a16="http://schemas.microsoft.com/office/drawing/2014/main" val="20002"/>
                    </a:ext>
                  </a:extLst>
                </a:gridCol>
              </a:tblGrid>
              <a:tr h="548640">
                <a:tc>
                  <a:txBody>
                    <a:bodyPr/>
                    <a:lstStyle/>
                    <a:p>
                      <a:pPr algn="ctr">
                        <a:defRPr sz="1300" b="1">
                          <a:solidFill>
                            <a:srgbClr val="FFFFFF"/>
                          </a:solidFill>
                          <a:latin typeface="Arial"/>
                        </a:defRPr>
                      </a:pPr>
                      <a:r>
                        <a:t>Tầng</a:t>
                      </a:r>
                    </a:p>
                  </a:txBody>
                  <a:tcPr>
                    <a:solidFill>
                      <a:srgbClr val="0F2E58"/>
                    </a:solidFill>
                  </a:tcPr>
                </a:tc>
                <a:tc>
                  <a:txBody>
                    <a:bodyPr/>
                    <a:lstStyle/>
                    <a:p>
                      <a:pPr algn="ctr">
                        <a:defRPr sz="1300" b="1">
                          <a:solidFill>
                            <a:srgbClr val="FFFFFF"/>
                          </a:solidFill>
                          <a:latin typeface="Arial"/>
                        </a:defRPr>
                      </a:pPr>
                      <a:r>
                        <a:t>Nội dung xử lý</a:t>
                      </a:r>
                    </a:p>
                  </a:txBody>
                  <a:tcPr>
                    <a:solidFill>
                      <a:srgbClr val="0F2E58"/>
                    </a:solidFill>
                  </a:tcPr>
                </a:tc>
                <a:tc>
                  <a:txBody>
                    <a:bodyPr/>
                    <a:lstStyle/>
                    <a:p>
                      <a:pPr algn="ctr">
                        <a:defRPr sz="1300" b="1">
                          <a:solidFill>
                            <a:srgbClr val="FFFFFF"/>
                          </a:solidFill>
                          <a:latin typeface="Arial"/>
                        </a:defRPr>
                      </a:pPr>
                      <a:r>
                        <a:t>Kết quả chính</a:t>
                      </a:r>
                    </a:p>
                  </a:txBody>
                  <a:tcPr>
                    <a:solidFill>
                      <a:srgbClr val="0F2E58"/>
                    </a:solidFill>
                  </a:tcPr>
                </a:tc>
                <a:extLst>
                  <a:ext uri="{0D108BD9-81ED-4DB2-BD59-A6C34878D82A}">
                    <a16:rowId xmlns:a16="http://schemas.microsoft.com/office/drawing/2014/main" val="10000"/>
                  </a:ext>
                </a:extLst>
              </a:tr>
              <a:tr h="548640">
                <a:tc>
                  <a:txBody>
                    <a:bodyPr/>
                    <a:lstStyle/>
                    <a:p>
                      <a:pPr algn="l">
                        <a:defRPr sz="1300">
                          <a:solidFill>
                            <a:srgbClr val="222222"/>
                          </a:solidFill>
                          <a:latin typeface="Arial"/>
                        </a:defRPr>
                      </a:pPr>
                      <a:r>
                        <a:t>Bronze</a:t>
                      </a:r>
                    </a:p>
                  </a:txBody>
                  <a:tcPr>
                    <a:solidFill>
                      <a:srgbClr val="FFFFFF"/>
                    </a:solidFill>
                  </a:tcPr>
                </a:tc>
                <a:tc>
                  <a:txBody>
                    <a:bodyPr/>
                    <a:lstStyle/>
                    <a:p>
                      <a:pPr algn="l">
                        <a:defRPr sz="1300">
                          <a:solidFill>
                            <a:srgbClr val="222222"/>
                          </a:solidFill>
                          <a:latin typeface="Arial"/>
                        </a:defRPr>
                      </a:pPr>
                      <a:r>
                        <a:t>Đọc CSV gốc vào Spark, giữ nguyên dữ liệu thô, lưu Delta Lake.</a:t>
                      </a:r>
                    </a:p>
                  </a:txBody>
                  <a:tcPr>
                    <a:solidFill>
                      <a:srgbClr val="FFFFFF"/>
                    </a:solidFill>
                  </a:tcPr>
                </a:tc>
                <a:tc>
                  <a:txBody>
                    <a:bodyPr/>
                    <a:lstStyle/>
                    <a:p>
                      <a:pPr algn="l">
                        <a:defRPr sz="1300">
                          <a:solidFill>
                            <a:srgbClr val="222222"/>
                          </a:solidFill>
                          <a:latin typeface="Arial"/>
                        </a:defRPr>
                      </a:pPr>
                      <a:r>
                        <a:t>Players: 10,003,590 dòng</a:t>
                      </a:r>
                    </a:p>
                    <a:p>
                      <a:pPr algn="l">
                        <a:defRPr sz="1300">
                          <a:solidFill>
                            <a:srgbClr val="222222"/>
                          </a:solidFill>
                          <a:latin typeface="Arial"/>
                        </a:defRPr>
                      </a:pPr>
                      <a:r>
                        <a:t>Teams: 385,055 dòng</a:t>
                      </a:r>
                    </a:p>
                  </a:txBody>
                  <a:tcPr>
                    <a:solidFill>
                      <a:srgbClr val="FFFFFF"/>
                    </a:solidFill>
                  </a:tcPr>
                </a:tc>
                <a:extLst>
                  <a:ext uri="{0D108BD9-81ED-4DB2-BD59-A6C34878D82A}">
                    <a16:rowId xmlns:a16="http://schemas.microsoft.com/office/drawing/2014/main" val="10001"/>
                  </a:ext>
                </a:extLst>
              </a:tr>
              <a:tr h="548640">
                <a:tc>
                  <a:txBody>
                    <a:bodyPr/>
                    <a:lstStyle/>
                    <a:p>
                      <a:pPr algn="l">
                        <a:defRPr sz="1300">
                          <a:solidFill>
                            <a:srgbClr val="222222"/>
                          </a:solidFill>
                          <a:latin typeface="Arial"/>
                        </a:defRPr>
                      </a:pPr>
                      <a:r>
                        <a:t>Silver</a:t>
                      </a:r>
                    </a:p>
                  </a:txBody>
                  <a:tcPr>
                    <a:solidFill>
                      <a:srgbClr val="F5F7FA"/>
                    </a:solidFill>
                  </a:tcPr>
                </a:tc>
                <a:tc>
                  <a:txBody>
                    <a:bodyPr/>
                    <a:lstStyle/>
                    <a:p>
                      <a:pPr algn="l">
                        <a:defRPr sz="1300">
                          <a:solidFill>
                            <a:srgbClr val="222222"/>
                          </a:solidFill>
                          <a:latin typeface="Arial"/>
                        </a:defRPr>
                      </a:pPr>
                      <a:r>
                        <a:t>Xóa dòng lỗi/null quan trọng, fix format “87+3”, ép kiểu, lọc outlier, điền median.</a:t>
                      </a:r>
                    </a:p>
                  </a:txBody>
                  <a:tcPr>
                    <a:solidFill>
                      <a:srgbClr val="F5F7FA"/>
                    </a:solidFill>
                  </a:tcPr>
                </a:tc>
                <a:tc>
                  <a:txBody>
                    <a:bodyPr/>
                    <a:lstStyle/>
                    <a:p>
                      <a:pPr algn="l">
                        <a:defRPr sz="1300">
                          <a:solidFill>
                            <a:srgbClr val="222222"/>
                          </a:solidFill>
                          <a:latin typeface="Arial"/>
                        </a:defRPr>
                      </a:pPr>
                      <a:r>
                        <a:t>9,870,793 dòng</a:t>
                      </a:r>
                    </a:p>
                    <a:p>
                      <a:pPr algn="l">
                        <a:defRPr sz="1300">
                          <a:solidFill>
                            <a:srgbClr val="222222"/>
                          </a:solidFill>
                          <a:latin typeface="Arial"/>
                        </a:defRPr>
                      </a:pPr>
                      <a:r>
                        <a:t>Loại 132,797 dòng (~1.3%)</a:t>
                      </a:r>
                    </a:p>
                  </a:txBody>
                  <a:tcPr>
                    <a:solidFill>
                      <a:srgbClr val="F5F7FA"/>
                    </a:solidFill>
                  </a:tcPr>
                </a:tc>
                <a:extLst>
                  <a:ext uri="{0D108BD9-81ED-4DB2-BD59-A6C34878D82A}">
                    <a16:rowId xmlns:a16="http://schemas.microsoft.com/office/drawing/2014/main" val="10002"/>
                  </a:ext>
                </a:extLst>
              </a:tr>
              <a:tr h="548640">
                <a:tc>
                  <a:txBody>
                    <a:bodyPr/>
                    <a:lstStyle/>
                    <a:p>
                      <a:pPr algn="l">
                        <a:defRPr sz="1300">
                          <a:solidFill>
                            <a:srgbClr val="222222"/>
                          </a:solidFill>
                          <a:latin typeface="Arial"/>
                        </a:defRPr>
                      </a:pPr>
                      <a:r>
                        <a:t>Gold EDA</a:t>
                      </a:r>
                    </a:p>
                  </a:txBody>
                  <a:tcPr>
                    <a:solidFill>
                      <a:srgbClr val="FFFFFF"/>
                    </a:solidFill>
                  </a:tcPr>
                </a:tc>
                <a:tc>
                  <a:txBody>
                    <a:bodyPr/>
                    <a:lstStyle/>
                    <a:p>
                      <a:pPr algn="l">
                        <a:defRPr sz="1300">
                          <a:solidFill>
                            <a:srgbClr val="222222"/>
                          </a:solidFill>
                          <a:latin typeface="Arial"/>
                        </a:defRPr>
                      </a:pPr>
                      <a:r>
                        <a:t>Tập dữ liệu gọn cho thống kê mô tả và trực quan hóa.</a:t>
                      </a:r>
                    </a:p>
                  </a:txBody>
                  <a:tcPr>
                    <a:solidFill>
                      <a:srgbClr val="FFFFFF"/>
                    </a:solidFill>
                  </a:tcPr>
                </a:tc>
                <a:tc>
                  <a:txBody>
                    <a:bodyPr/>
                    <a:lstStyle/>
                    <a:p>
                      <a:pPr algn="l">
                        <a:defRPr sz="1300">
                          <a:solidFill>
                            <a:srgbClr val="222222"/>
                          </a:solidFill>
                          <a:latin typeface="Arial"/>
                        </a:defRPr>
                      </a:pPr>
                      <a:r>
                        <a:t>27 cột key features</a:t>
                      </a:r>
                    </a:p>
                  </a:txBody>
                  <a:tcPr>
                    <a:solidFill>
                      <a:srgbClr val="FFFFFF"/>
                    </a:solidFill>
                  </a:tcPr>
                </a:tc>
                <a:extLst>
                  <a:ext uri="{0D108BD9-81ED-4DB2-BD59-A6C34878D82A}">
                    <a16:rowId xmlns:a16="http://schemas.microsoft.com/office/drawing/2014/main" val="10003"/>
                  </a:ext>
                </a:extLst>
              </a:tr>
              <a:tr h="548640">
                <a:tc>
                  <a:txBody>
                    <a:bodyPr/>
                    <a:lstStyle/>
                    <a:p>
                      <a:pPr algn="l">
                        <a:defRPr sz="1300">
                          <a:solidFill>
                            <a:srgbClr val="222222"/>
                          </a:solidFill>
                          <a:latin typeface="Arial"/>
                        </a:defRPr>
                      </a:pPr>
                      <a:r>
                        <a:t>Gold Cluster</a:t>
                      </a:r>
                    </a:p>
                  </a:txBody>
                  <a:tcPr>
                    <a:solidFill>
                      <a:srgbClr val="F5F7FA"/>
                    </a:solidFill>
                  </a:tcPr>
                </a:tc>
                <a:tc>
                  <a:txBody>
                    <a:bodyPr/>
                    <a:lstStyle/>
                    <a:p>
                      <a:pPr algn="l">
                        <a:defRPr sz="1300">
                          <a:solidFill>
                            <a:srgbClr val="222222"/>
                          </a:solidFill>
                          <a:latin typeface="Arial"/>
                        </a:defRPr>
                      </a:pPr>
                      <a:r>
                        <a:t>Tập đặc trưng phục vụ clustering và similarity.</a:t>
                      </a:r>
                    </a:p>
                  </a:txBody>
                  <a:tcPr>
                    <a:solidFill>
                      <a:srgbClr val="F5F7FA"/>
                    </a:solidFill>
                  </a:tcPr>
                </a:tc>
                <a:tc>
                  <a:txBody>
                    <a:bodyPr/>
                    <a:lstStyle/>
                    <a:p>
                      <a:pPr algn="l">
                        <a:defRPr sz="1300">
                          <a:solidFill>
                            <a:srgbClr val="222222"/>
                          </a:solidFill>
                          <a:latin typeface="Arial"/>
                        </a:defRPr>
                      </a:pPr>
                      <a:r>
                        <a:t>8,767,373 dòng</a:t>
                      </a:r>
                    </a:p>
                  </a:txBody>
                  <a:tcPr>
                    <a:solidFill>
                      <a:srgbClr val="F5F7FA"/>
                    </a:solidFill>
                  </a:tcPr>
                </a:tc>
                <a:extLst>
                  <a:ext uri="{0D108BD9-81ED-4DB2-BD59-A6C34878D82A}">
                    <a16:rowId xmlns:a16="http://schemas.microsoft.com/office/drawing/2014/main" val="10004"/>
                  </a:ext>
                </a:extLst>
              </a:tr>
              <a:tr h="548640">
                <a:tc>
                  <a:txBody>
                    <a:bodyPr/>
                    <a:lstStyle/>
                    <a:p>
                      <a:pPr algn="l">
                        <a:defRPr sz="1300">
                          <a:solidFill>
                            <a:srgbClr val="222222"/>
                          </a:solidFill>
                          <a:latin typeface="Arial"/>
                        </a:defRPr>
                      </a:pPr>
                      <a:r>
                        <a:t>Gold ML</a:t>
                      </a:r>
                    </a:p>
                  </a:txBody>
                  <a:tcPr>
                    <a:solidFill>
                      <a:srgbClr val="FFFFFF"/>
                    </a:solidFill>
                  </a:tcPr>
                </a:tc>
                <a:tc>
                  <a:txBody>
                    <a:bodyPr/>
                    <a:lstStyle/>
                    <a:p>
                      <a:pPr algn="l">
                        <a:defRPr sz="1300">
                          <a:solidFill>
                            <a:srgbClr val="222222"/>
                          </a:solidFill>
                          <a:latin typeface="Arial"/>
                        </a:defRPr>
                      </a:pPr>
                      <a:r>
                        <a:t>Tập đặc trưng cho dự đoán value_eur/value_log.</a:t>
                      </a:r>
                    </a:p>
                  </a:txBody>
                  <a:tcPr>
                    <a:solidFill>
                      <a:srgbClr val="FFFFFF"/>
                    </a:solidFill>
                  </a:tcPr>
                </a:tc>
                <a:tc>
                  <a:txBody>
                    <a:bodyPr/>
                    <a:lstStyle/>
                    <a:p>
                      <a:pPr algn="l">
                        <a:defRPr sz="1300">
                          <a:solidFill>
                            <a:srgbClr val="222222"/>
                          </a:solidFill>
                          <a:latin typeface="Arial"/>
                        </a:defRPr>
                      </a:pPr>
                      <a:r>
                        <a:t>8,767,373 dòng</a:t>
                      </a:r>
                    </a:p>
                    <a:p>
                      <a:pPr algn="l">
                        <a:defRPr sz="1300">
                          <a:solidFill>
                            <a:srgbClr val="222222"/>
                          </a:solidFill>
                          <a:latin typeface="Arial"/>
                        </a:defRPr>
                      </a:pPr>
                      <a:r>
                        <a:t>10 features chính</a:t>
                      </a:r>
                    </a:p>
                  </a:txBody>
                  <a:tcP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40080" y="4526280"/>
            <a:ext cx="10972800" cy="320040"/>
          </a:xfrm>
          <a:prstGeom prst="rect">
            <a:avLst/>
          </a:prstGeom>
          <a:noFill/>
        </p:spPr>
        <p:txBody>
          <a:bodyPr wrap="square">
            <a:spAutoFit/>
          </a:bodyPr>
          <a:lstStyle/>
          <a:p>
            <a:pPr algn="l">
              <a:defRPr sz="2000" b="1">
                <a:solidFill>
                  <a:srgbClr val="0F2E58"/>
                </a:solidFill>
                <a:latin typeface="Arial"/>
              </a:defRPr>
            </a:pPr>
            <a:r>
              <a:t>Các quy tắc làm sạch tiêu biểu</a:t>
            </a:r>
          </a:p>
        </p:txBody>
      </p:sp>
      <p:sp>
        <p:nvSpPr>
          <p:cNvPr id="9" name="TextBox 8"/>
          <p:cNvSpPr txBox="1"/>
          <p:nvPr/>
        </p:nvSpPr>
        <p:spPr>
          <a:xfrm>
            <a:off x="822960" y="4846320"/>
            <a:ext cx="10881360" cy="1280160"/>
          </a:xfrm>
          <a:prstGeom prst="rect">
            <a:avLst/>
          </a:prstGeom>
          <a:noFill/>
        </p:spPr>
        <p:txBody>
          <a:bodyPr wrap="square" lIns="25400" tIns="25400" rIns="25400" bIns="25400">
            <a:spAutoFit/>
          </a:bodyPr>
          <a:lstStyle/>
          <a:p>
            <a:pPr>
              <a:spcAft>
                <a:spcPts val="800"/>
              </a:spcAft>
              <a:defRPr sz="1600">
                <a:solidFill>
                  <a:srgbClr val="222222"/>
                </a:solidFill>
                <a:latin typeface="Arial"/>
              </a:defRPr>
            </a:pPr>
            <a:r>
              <a:t>Loại bỏ các bản ghi thiếu ID, overall hoặc giá trị không hợp lệ; xử lý trùng lặp theo cầu thủ.</a:t>
            </a:r>
          </a:p>
          <a:p>
            <a:pPr>
              <a:spcAft>
                <a:spcPts val="800"/>
              </a:spcAft>
              <a:defRPr sz="1600">
                <a:solidFill>
                  <a:srgbClr val="222222"/>
                </a:solidFill>
                <a:latin typeface="Arial"/>
              </a:defRPr>
            </a:pPr>
            <a:r>
              <a:t>Chuẩn hóa các cột rating dạng chuỗi như “87+3” thành số nguyên; ép kiểu dữ liệu để mô hình có thể học.</a:t>
            </a:r>
          </a:p>
          <a:p>
            <a:pPr>
              <a:spcAft>
                <a:spcPts val="800"/>
              </a:spcAft>
              <a:defRPr sz="1600">
                <a:solidFill>
                  <a:srgbClr val="222222"/>
                </a:solidFill>
                <a:latin typeface="Arial"/>
              </a:defRPr>
            </a:pPr>
            <a:r>
              <a:t>Điền median cho các cột numeric bị khuyết nhằm hạn chế ảnh hưởng của outlier.</a:t>
            </a:r>
          </a:p>
        </p:txBody>
      </p:sp>
      <p:sp>
        <p:nvSpPr>
          <p:cNvPr id="10" name="TextBox 9"/>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KẾT QUẢ EDA VÀ NHẬN DIỆN DỮ LIỆU</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EDA</a:t>
            </a:r>
          </a:p>
        </p:txBody>
      </p:sp>
      <p:sp>
        <p:nvSpPr>
          <p:cNvPr id="7" name="Rounded Rectangle 6"/>
          <p:cNvSpPr/>
          <p:nvPr/>
        </p:nvSpPr>
        <p:spPr>
          <a:xfrm>
            <a:off x="594360" y="914400"/>
            <a:ext cx="5486400" cy="5349240"/>
          </a:xfrm>
          <a:prstGeom prst="roundRect">
            <a:avLst/>
          </a:prstGeom>
          <a:solidFill>
            <a:srgbClr val="FFFF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097280"/>
            <a:ext cx="4937760" cy="320040"/>
          </a:xfrm>
          <a:prstGeom prst="rect">
            <a:avLst/>
          </a:prstGeom>
          <a:noFill/>
        </p:spPr>
        <p:txBody>
          <a:bodyPr wrap="square">
            <a:spAutoFit/>
          </a:bodyPr>
          <a:lstStyle/>
          <a:p>
            <a:pPr algn="l">
              <a:defRPr sz="2100" b="1">
                <a:solidFill>
                  <a:srgbClr val="0F2E58"/>
                </a:solidFill>
                <a:latin typeface="Arial"/>
              </a:defRPr>
            </a:pPr>
            <a:r>
              <a:t>Một số phát hiện nổi bật</a:t>
            </a:r>
          </a:p>
        </p:txBody>
      </p:sp>
      <p:sp>
        <p:nvSpPr>
          <p:cNvPr id="9" name="TextBox 8"/>
          <p:cNvSpPr txBox="1"/>
          <p:nvPr/>
        </p:nvSpPr>
        <p:spPr>
          <a:xfrm>
            <a:off x="868680" y="1508760"/>
            <a:ext cx="4846320" cy="4389120"/>
          </a:xfrm>
          <a:prstGeom prst="rect">
            <a:avLst/>
          </a:prstGeom>
          <a:noFill/>
        </p:spPr>
        <p:txBody>
          <a:bodyPr wrap="square" lIns="25400" tIns="25400" rIns="25400" bIns="25400">
            <a:spAutoFit/>
          </a:bodyPr>
          <a:lstStyle/>
          <a:p>
            <a:pPr>
              <a:spcAft>
                <a:spcPts val="800"/>
              </a:spcAft>
              <a:defRPr sz="1600">
                <a:solidFill>
                  <a:srgbClr val="222222"/>
                </a:solidFill>
                <a:latin typeface="Arial"/>
              </a:defRPr>
            </a:pPr>
            <a:r>
              <a:t>Overall rating có giá trị min = 35, max = 94, mean = 65.82 và std = 7.03.</a:t>
            </a:r>
          </a:p>
          <a:p>
            <a:pPr>
              <a:spcAft>
                <a:spcPts val="800"/>
              </a:spcAft>
              <a:defRPr sz="1600">
                <a:solidFill>
                  <a:srgbClr val="222222"/>
                </a:solidFill>
                <a:latin typeface="Arial"/>
              </a:defRPr>
            </a:pPr>
            <a:r>
              <a:t>6 thuộc tính kỹ năng chính (pace, shooting, passing, dribbling, defending, physic) có tỷ lệ missing khoảng 11.21%.</a:t>
            </a:r>
          </a:p>
          <a:p>
            <a:pPr>
              <a:spcAft>
                <a:spcPts val="800"/>
              </a:spcAft>
              <a:defRPr sz="1600">
                <a:solidFill>
                  <a:srgbClr val="222222"/>
                </a:solidFill>
                <a:latin typeface="Arial"/>
              </a:defRPr>
            </a:pPr>
            <a:r>
              <a:t>value_eur missing khoảng 1.33%; wage_eur missing khoảng 1.16%.</a:t>
            </a:r>
          </a:p>
          <a:p>
            <a:pPr>
              <a:spcAft>
                <a:spcPts val="800"/>
              </a:spcAft>
              <a:defRPr sz="1600">
                <a:solidFill>
                  <a:srgbClr val="222222"/>
                </a:solidFill>
                <a:latin typeface="Arial"/>
              </a:defRPr>
            </a:pPr>
            <a:r>
              <a:t>Top cầu thủ giá trị cao nhất gồm: K. Mbappé, E. Haaland, Neymar Jr, H. Kane…</a:t>
            </a:r>
          </a:p>
          <a:p>
            <a:pPr>
              <a:spcAft>
                <a:spcPts val="800"/>
              </a:spcAft>
              <a:defRPr sz="1600">
                <a:solidFill>
                  <a:srgbClr val="222222"/>
                </a:solidFill>
                <a:latin typeface="Arial"/>
              </a:defRPr>
            </a:pPr>
            <a:r>
              <a:t>Ma trận tương quan cho thấy nhiều kỹ năng có quan hệ chặt chẽ, là cơ sở để áp dụng giảm chiều.</a:t>
            </a:r>
          </a:p>
        </p:txBody>
      </p:sp>
      <p:graphicFrame>
        <p:nvGraphicFramePr>
          <p:cNvPr id="10" name="Table 9"/>
          <p:cNvGraphicFramePr>
            <a:graphicFrameLocks noGrp="1"/>
          </p:cNvGraphicFramePr>
          <p:nvPr/>
        </p:nvGraphicFramePr>
        <p:xfrm>
          <a:off x="6400800" y="1005840"/>
          <a:ext cx="5120640" cy="23774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396240">
                <a:tc>
                  <a:txBody>
                    <a:bodyPr/>
                    <a:lstStyle/>
                    <a:p>
                      <a:pPr algn="ctr">
                        <a:defRPr sz="1400" b="1">
                          <a:solidFill>
                            <a:srgbClr val="FFFFFF"/>
                          </a:solidFill>
                          <a:latin typeface="Arial"/>
                        </a:defRPr>
                      </a:pPr>
                      <a:r>
                        <a:t>Chỉ tiêu</a:t>
                      </a:r>
                    </a:p>
                  </a:txBody>
                  <a:tcPr>
                    <a:solidFill>
                      <a:srgbClr val="0F2E58"/>
                    </a:solidFill>
                  </a:tcPr>
                </a:tc>
                <a:tc>
                  <a:txBody>
                    <a:bodyPr/>
                    <a:lstStyle/>
                    <a:p>
                      <a:pPr algn="ctr">
                        <a:defRPr sz="1400" b="1">
                          <a:solidFill>
                            <a:srgbClr val="FFFFFF"/>
                          </a:solidFill>
                          <a:latin typeface="Arial"/>
                        </a:defRPr>
                      </a:pPr>
                      <a:r>
                        <a:t>Giá trị</a:t>
                      </a:r>
                    </a:p>
                  </a:txBody>
                  <a:tcPr>
                    <a:solidFill>
                      <a:srgbClr val="0F2E58"/>
                    </a:solidFill>
                  </a:tcPr>
                </a:tc>
                <a:extLst>
                  <a:ext uri="{0D108BD9-81ED-4DB2-BD59-A6C34878D82A}">
                    <a16:rowId xmlns:a16="http://schemas.microsoft.com/office/drawing/2014/main" val="10000"/>
                  </a:ext>
                </a:extLst>
              </a:tr>
              <a:tr h="396240">
                <a:tc>
                  <a:txBody>
                    <a:bodyPr/>
                    <a:lstStyle/>
                    <a:p>
                      <a:pPr algn="l">
                        <a:defRPr sz="1400">
                          <a:solidFill>
                            <a:srgbClr val="222222"/>
                          </a:solidFill>
                          <a:latin typeface="Arial"/>
                        </a:defRPr>
                      </a:pPr>
                      <a:r>
                        <a:t>Overall min / max</a:t>
                      </a:r>
                    </a:p>
                  </a:txBody>
                  <a:tcPr>
                    <a:solidFill>
                      <a:srgbClr val="FFFFFF"/>
                    </a:solidFill>
                  </a:tcPr>
                </a:tc>
                <a:tc>
                  <a:txBody>
                    <a:bodyPr/>
                    <a:lstStyle/>
                    <a:p>
                      <a:pPr algn="l">
                        <a:defRPr sz="1400">
                          <a:solidFill>
                            <a:srgbClr val="222222"/>
                          </a:solidFill>
                          <a:latin typeface="Arial"/>
                        </a:defRPr>
                      </a:pPr>
                      <a:r>
                        <a:t>35 / 94</a:t>
                      </a:r>
                    </a:p>
                  </a:txBody>
                  <a:tcPr>
                    <a:solidFill>
                      <a:srgbClr val="FFFFFF"/>
                    </a:solidFill>
                  </a:tcPr>
                </a:tc>
                <a:extLst>
                  <a:ext uri="{0D108BD9-81ED-4DB2-BD59-A6C34878D82A}">
                    <a16:rowId xmlns:a16="http://schemas.microsoft.com/office/drawing/2014/main" val="10001"/>
                  </a:ext>
                </a:extLst>
              </a:tr>
              <a:tr h="396240">
                <a:tc>
                  <a:txBody>
                    <a:bodyPr/>
                    <a:lstStyle/>
                    <a:p>
                      <a:pPr algn="l">
                        <a:defRPr sz="1400">
                          <a:solidFill>
                            <a:srgbClr val="222222"/>
                          </a:solidFill>
                          <a:latin typeface="Arial"/>
                        </a:defRPr>
                      </a:pPr>
                      <a:r>
                        <a:t>Overall mean / std</a:t>
                      </a:r>
                    </a:p>
                  </a:txBody>
                  <a:tcPr>
                    <a:solidFill>
                      <a:srgbClr val="F5F7FA"/>
                    </a:solidFill>
                  </a:tcPr>
                </a:tc>
                <a:tc>
                  <a:txBody>
                    <a:bodyPr/>
                    <a:lstStyle/>
                    <a:p>
                      <a:pPr algn="l">
                        <a:defRPr sz="1400">
                          <a:solidFill>
                            <a:srgbClr val="222222"/>
                          </a:solidFill>
                          <a:latin typeface="Arial"/>
                        </a:defRPr>
                      </a:pPr>
                      <a:r>
                        <a:t>65.82 / 7.03</a:t>
                      </a:r>
                    </a:p>
                  </a:txBody>
                  <a:tcPr>
                    <a:solidFill>
                      <a:srgbClr val="F5F7FA"/>
                    </a:solidFill>
                  </a:tcPr>
                </a:tc>
                <a:extLst>
                  <a:ext uri="{0D108BD9-81ED-4DB2-BD59-A6C34878D82A}">
                    <a16:rowId xmlns:a16="http://schemas.microsoft.com/office/drawing/2014/main" val="10002"/>
                  </a:ext>
                </a:extLst>
              </a:tr>
              <a:tr h="396240">
                <a:tc>
                  <a:txBody>
                    <a:bodyPr/>
                    <a:lstStyle/>
                    <a:p>
                      <a:pPr algn="l">
                        <a:defRPr sz="1400">
                          <a:solidFill>
                            <a:srgbClr val="222222"/>
                          </a:solidFill>
                          <a:latin typeface="Arial"/>
                        </a:defRPr>
                      </a:pPr>
                      <a:r>
                        <a:t>Missing skill cols</a:t>
                      </a:r>
                    </a:p>
                  </a:txBody>
                  <a:tcPr>
                    <a:solidFill>
                      <a:srgbClr val="FFFFFF"/>
                    </a:solidFill>
                  </a:tcPr>
                </a:tc>
                <a:tc>
                  <a:txBody>
                    <a:bodyPr/>
                    <a:lstStyle/>
                    <a:p>
                      <a:pPr algn="l">
                        <a:defRPr sz="1400">
                          <a:solidFill>
                            <a:srgbClr val="222222"/>
                          </a:solidFill>
                          <a:latin typeface="Arial"/>
                        </a:defRPr>
                      </a:pPr>
                      <a:r>
                        <a:t>11.21%</a:t>
                      </a:r>
                    </a:p>
                  </a:txBody>
                  <a:tcPr>
                    <a:solidFill>
                      <a:srgbClr val="FFFFFF"/>
                    </a:solidFill>
                  </a:tcPr>
                </a:tc>
                <a:extLst>
                  <a:ext uri="{0D108BD9-81ED-4DB2-BD59-A6C34878D82A}">
                    <a16:rowId xmlns:a16="http://schemas.microsoft.com/office/drawing/2014/main" val="10003"/>
                  </a:ext>
                </a:extLst>
              </a:tr>
              <a:tr h="396240">
                <a:tc>
                  <a:txBody>
                    <a:bodyPr/>
                    <a:lstStyle/>
                    <a:p>
                      <a:pPr algn="l">
                        <a:defRPr sz="1400">
                          <a:solidFill>
                            <a:srgbClr val="222222"/>
                          </a:solidFill>
                          <a:latin typeface="Arial"/>
                        </a:defRPr>
                      </a:pPr>
                      <a:r>
                        <a:t>Missing value_eur</a:t>
                      </a:r>
                    </a:p>
                  </a:txBody>
                  <a:tcPr>
                    <a:solidFill>
                      <a:srgbClr val="F5F7FA"/>
                    </a:solidFill>
                  </a:tcPr>
                </a:tc>
                <a:tc>
                  <a:txBody>
                    <a:bodyPr/>
                    <a:lstStyle/>
                    <a:p>
                      <a:pPr algn="l">
                        <a:defRPr sz="1400">
                          <a:solidFill>
                            <a:srgbClr val="222222"/>
                          </a:solidFill>
                          <a:latin typeface="Arial"/>
                        </a:defRPr>
                      </a:pPr>
                      <a:r>
                        <a:t>1.33%</a:t>
                      </a:r>
                    </a:p>
                  </a:txBody>
                  <a:tcPr>
                    <a:solidFill>
                      <a:srgbClr val="F5F7FA"/>
                    </a:solidFill>
                  </a:tcPr>
                </a:tc>
                <a:extLst>
                  <a:ext uri="{0D108BD9-81ED-4DB2-BD59-A6C34878D82A}">
                    <a16:rowId xmlns:a16="http://schemas.microsoft.com/office/drawing/2014/main" val="10004"/>
                  </a:ext>
                </a:extLst>
              </a:tr>
              <a:tr h="396240">
                <a:tc>
                  <a:txBody>
                    <a:bodyPr/>
                    <a:lstStyle/>
                    <a:p>
                      <a:pPr algn="l">
                        <a:defRPr sz="1400">
                          <a:solidFill>
                            <a:srgbClr val="222222"/>
                          </a:solidFill>
                          <a:latin typeface="Arial"/>
                        </a:defRPr>
                      </a:pPr>
                      <a:r>
                        <a:t>Missing wage_eur</a:t>
                      </a:r>
                    </a:p>
                  </a:txBody>
                  <a:tcPr>
                    <a:solidFill>
                      <a:srgbClr val="FFFFFF"/>
                    </a:solidFill>
                  </a:tcPr>
                </a:tc>
                <a:tc>
                  <a:txBody>
                    <a:bodyPr/>
                    <a:lstStyle/>
                    <a:p>
                      <a:pPr algn="l">
                        <a:defRPr sz="1400">
                          <a:solidFill>
                            <a:srgbClr val="222222"/>
                          </a:solidFill>
                          <a:latin typeface="Arial"/>
                        </a:defRPr>
                      </a:pPr>
                      <a:r>
                        <a:t>1.16%</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6400800" y="3657600"/>
            <a:ext cx="4937760" cy="320040"/>
          </a:xfrm>
          <a:prstGeom prst="rect">
            <a:avLst/>
          </a:prstGeom>
          <a:noFill/>
        </p:spPr>
        <p:txBody>
          <a:bodyPr wrap="square">
            <a:spAutoFit/>
          </a:bodyPr>
          <a:lstStyle/>
          <a:p>
            <a:pPr algn="l">
              <a:defRPr sz="2100" b="1">
                <a:solidFill>
                  <a:srgbClr val="0F2E58"/>
                </a:solidFill>
                <a:latin typeface="Arial"/>
              </a:defRPr>
            </a:pPr>
            <a:r>
              <a:t>Ý nghĩa đối với mô hình</a:t>
            </a:r>
          </a:p>
        </p:txBody>
      </p:sp>
      <p:sp>
        <p:nvSpPr>
          <p:cNvPr id="12" name="TextBox 11"/>
          <p:cNvSpPr txBox="1"/>
          <p:nvPr/>
        </p:nvSpPr>
        <p:spPr>
          <a:xfrm>
            <a:off x="6492240" y="4069080"/>
            <a:ext cx="4754880" cy="1828800"/>
          </a:xfrm>
          <a:prstGeom prst="rect">
            <a:avLst/>
          </a:prstGeom>
          <a:noFill/>
        </p:spPr>
        <p:txBody>
          <a:bodyPr wrap="square" lIns="25400" tIns="25400" rIns="25400" bIns="25400">
            <a:spAutoFit/>
          </a:bodyPr>
          <a:lstStyle/>
          <a:p>
            <a:pPr>
              <a:spcAft>
                <a:spcPts val="800"/>
              </a:spcAft>
              <a:defRPr sz="1600">
                <a:solidFill>
                  <a:srgbClr val="222222"/>
                </a:solidFill>
                <a:latin typeface="Arial"/>
              </a:defRPr>
            </a:pPr>
            <a:r>
              <a:t>Dữ liệu có cấu trúc nhiều chiều và tồn tại tương quan đáng kể giữa các biến kỹ năng.</a:t>
            </a:r>
          </a:p>
          <a:p>
            <a:pPr>
              <a:spcAft>
                <a:spcPts val="800"/>
              </a:spcAft>
              <a:defRPr sz="1600">
                <a:solidFill>
                  <a:srgbClr val="222222"/>
                </a:solidFill>
                <a:latin typeface="Arial"/>
              </a:defRPr>
            </a:pPr>
            <a:r>
              <a:t>SVD phù hợp để nén thông tin, giảm dư thừa trước khi đưa vào clustering và prediction.</a:t>
            </a:r>
          </a:p>
        </p:txBody>
      </p:sp>
      <p:sp>
        <p:nvSpPr>
          <p:cNvPr id="13" name="TextBox 12"/>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ÁP DỤNG SVD CHO PHÂN CỤM</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SVD + KMeans</a:t>
            </a:r>
          </a:p>
        </p:txBody>
      </p:sp>
      <p:pic>
        <p:nvPicPr>
          <p:cNvPr id="7" name="Picture 6" descr="cell_38_0.png"/>
          <p:cNvPicPr>
            <a:picLocks noChangeAspect="1"/>
          </p:cNvPicPr>
          <p:nvPr/>
        </p:nvPicPr>
        <p:blipFill>
          <a:blip r:embed="rId2"/>
          <a:stretch>
            <a:fillRect/>
          </a:stretch>
        </p:blipFill>
        <p:spPr>
          <a:xfrm>
            <a:off x="640080" y="1051560"/>
            <a:ext cx="5486400" cy="2711336"/>
          </a:xfrm>
          <a:prstGeom prst="rect">
            <a:avLst/>
          </a:prstGeom>
        </p:spPr>
      </p:pic>
      <p:sp>
        <p:nvSpPr>
          <p:cNvPr id="8" name="TextBox 7"/>
          <p:cNvSpPr txBox="1"/>
          <p:nvPr/>
        </p:nvSpPr>
        <p:spPr>
          <a:xfrm>
            <a:off x="731520" y="4846320"/>
            <a:ext cx="5212080" cy="731520"/>
          </a:xfrm>
          <a:prstGeom prst="rect">
            <a:avLst/>
          </a:prstGeom>
          <a:noFill/>
        </p:spPr>
        <p:txBody>
          <a:bodyPr wrap="square">
            <a:spAutoFit/>
          </a:bodyPr>
          <a:lstStyle/>
          <a:p>
            <a:pPr algn="ctr">
              <a:defRPr sz="1600" b="0">
                <a:solidFill>
                  <a:srgbClr val="222222"/>
                </a:solidFill>
                <a:latin typeface="Arial"/>
              </a:defRPr>
            </a:pPr>
            <a:r>
              <a:t>Biểu đồ explained variance cho thấy k = 3 là số chiều đầu tiên đạt ngưỡng 85%.</a:t>
            </a:r>
            <a:br/>
            <a:r>
              <a:t>→ Chọn 3 thành phần SVD, giữ lại 87.0% thông tin.</a:t>
            </a:r>
          </a:p>
        </p:txBody>
      </p:sp>
      <p:sp>
        <p:nvSpPr>
          <p:cNvPr id="9" name="TextBox 8"/>
          <p:cNvSpPr txBox="1"/>
          <p:nvPr/>
        </p:nvSpPr>
        <p:spPr>
          <a:xfrm>
            <a:off x="6400800" y="1097280"/>
            <a:ext cx="4754880" cy="320040"/>
          </a:xfrm>
          <a:prstGeom prst="rect">
            <a:avLst/>
          </a:prstGeom>
          <a:noFill/>
        </p:spPr>
        <p:txBody>
          <a:bodyPr wrap="square">
            <a:spAutoFit/>
          </a:bodyPr>
          <a:lstStyle/>
          <a:p>
            <a:pPr algn="l">
              <a:defRPr sz="2200" b="1">
                <a:solidFill>
                  <a:srgbClr val="0F2E58"/>
                </a:solidFill>
                <a:latin typeface="Arial"/>
              </a:defRPr>
            </a:pPr>
            <a:r>
              <a:t>Pipeline phân cụm</a:t>
            </a:r>
          </a:p>
        </p:txBody>
      </p:sp>
      <p:sp>
        <p:nvSpPr>
          <p:cNvPr id="10" name="TextBox 9"/>
          <p:cNvSpPr txBox="1"/>
          <p:nvPr/>
        </p:nvSpPr>
        <p:spPr>
          <a:xfrm>
            <a:off x="6537960" y="1508760"/>
            <a:ext cx="4572000" cy="2194560"/>
          </a:xfrm>
          <a:prstGeom prst="rect">
            <a:avLst/>
          </a:prstGeom>
          <a:noFill/>
        </p:spPr>
        <p:txBody>
          <a:bodyPr wrap="square" lIns="25400" tIns="25400" rIns="25400" bIns="25400">
            <a:spAutoFit/>
          </a:bodyPr>
          <a:lstStyle/>
          <a:p>
            <a:pPr>
              <a:spcAft>
                <a:spcPts val="800"/>
              </a:spcAft>
              <a:defRPr sz="1600">
                <a:solidFill>
                  <a:srgbClr val="222222"/>
                </a:solidFill>
                <a:latin typeface="Arial"/>
              </a:defRPr>
            </a:pPr>
            <a:r>
              <a:t>Input: 6 kỹ năng chính = pace, shooting, passing, dribbling, defending, physic.</a:t>
            </a:r>
          </a:p>
          <a:p>
            <a:pPr>
              <a:spcAft>
                <a:spcPts val="800"/>
              </a:spcAft>
              <a:defRPr sz="1600">
                <a:solidFill>
                  <a:srgbClr val="222222"/>
                </a:solidFill>
                <a:latin typeface="Arial"/>
              </a:defRPr>
            </a:pPr>
            <a:r>
              <a:t>Bước 1: VectorAssembler → StandardScaler.</a:t>
            </a:r>
          </a:p>
          <a:p>
            <a:pPr>
              <a:spcAft>
                <a:spcPts val="800"/>
              </a:spcAft>
              <a:defRPr sz="1600">
                <a:solidFill>
                  <a:srgbClr val="222222"/>
                </a:solidFill>
                <a:latin typeface="Arial"/>
              </a:defRPr>
            </a:pPr>
            <a:r>
              <a:t>Bước 2: PCA/SVD giảm từ 6 chiều xuống 3 chiều.</a:t>
            </a:r>
          </a:p>
          <a:p>
            <a:pPr>
              <a:spcAft>
                <a:spcPts val="800"/>
              </a:spcAft>
              <a:defRPr sz="1600">
                <a:solidFill>
                  <a:srgbClr val="222222"/>
                </a:solidFill>
                <a:latin typeface="Arial"/>
              </a:defRPr>
            </a:pPr>
            <a:r>
              <a:t>Bước 3: KMeans với K = 6 trên không gian SVD.</a:t>
            </a:r>
          </a:p>
          <a:p>
            <a:pPr>
              <a:spcAft>
                <a:spcPts val="800"/>
              </a:spcAft>
              <a:defRPr sz="1600">
                <a:solidFill>
                  <a:srgbClr val="222222"/>
                </a:solidFill>
                <a:latin typeface="Arial"/>
              </a:defRPr>
            </a:pPr>
            <a:r>
              <a:t>Bước 4: Đánh giá bằng Silhouette Score.</a:t>
            </a:r>
          </a:p>
        </p:txBody>
      </p:sp>
      <p:sp>
        <p:nvSpPr>
          <p:cNvPr id="11" name="Rounded Rectangle 10"/>
          <p:cNvSpPr/>
          <p:nvPr/>
        </p:nvSpPr>
        <p:spPr>
          <a:xfrm>
            <a:off x="6583680" y="4206240"/>
            <a:ext cx="1508760" cy="86868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8" y="4251960"/>
            <a:ext cx="1325880" cy="777240"/>
          </a:xfrm>
          <a:prstGeom prst="rect">
            <a:avLst/>
          </a:prstGeom>
          <a:noFill/>
        </p:spPr>
        <p:txBody>
          <a:bodyPr wrap="none">
            <a:spAutoFit/>
          </a:bodyPr>
          <a:lstStyle/>
          <a:p>
            <a:pPr>
              <a:defRPr sz="1200" b="1">
                <a:solidFill>
                  <a:srgbClr val="0F2E58"/>
                </a:solidFill>
                <a:latin typeface="Arial"/>
              </a:defRPr>
            </a:pPr>
            <a:r>
              <a:t>Số chiều đầu vào</a:t>
            </a:r>
          </a:p>
          <a:p>
            <a:pPr>
              <a:defRPr sz="2200" b="1">
                <a:solidFill>
                  <a:srgbClr val="216BAB"/>
                </a:solidFill>
                <a:latin typeface="Arial"/>
              </a:defRPr>
            </a:pPr>
            <a:r>
              <a:t>6</a:t>
            </a:r>
          </a:p>
        </p:txBody>
      </p:sp>
      <p:sp>
        <p:nvSpPr>
          <p:cNvPr id="13" name="Rounded Rectangle 12"/>
          <p:cNvSpPr/>
          <p:nvPr/>
        </p:nvSpPr>
        <p:spPr>
          <a:xfrm>
            <a:off x="8229600" y="4206240"/>
            <a:ext cx="1508760" cy="86868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9328" y="4251960"/>
            <a:ext cx="1325880" cy="777240"/>
          </a:xfrm>
          <a:prstGeom prst="rect">
            <a:avLst/>
          </a:prstGeom>
          <a:noFill/>
        </p:spPr>
        <p:txBody>
          <a:bodyPr wrap="none">
            <a:spAutoFit/>
          </a:bodyPr>
          <a:lstStyle/>
          <a:p>
            <a:pPr>
              <a:defRPr sz="1200" b="1">
                <a:solidFill>
                  <a:srgbClr val="0F2E58"/>
                </a:solidFill>
                <a:latin typeface="Arial"/>
              </a:defRPr>
            </a:pPr>
            <a:r>
              <a:t>Số chiều SVD</a:t>
            </a:r>
          </a:p>
          <a:p>
            <a:pPr>
              <a:defRPr sz="2200" b="1">
                <a:solidFill>
                  <a:srgbClr val="216BAB"/>
                </a:solidFill>
                <a:latin typeface="Arial"/>
              </a:defRPr>
            </a:pPr>
            <a:r>
              <a:t>3</a:t>
            </a:r>
          </a:p>
        </p:txBody>
      </p:sp>
      <p:sp>
        <p:nvSpPr>
          <p:cNvPr id="15" name="Rounded Rectangle 14"/>
          <p:cNvSpPr/>
          <p:nvPr/>
        </p:nvSpPr>
        <p:spPr>
          <a:xfrm>
            <a:off x="9875520" y="4206240"/>
            <a:ext cx="1508760" cy="86868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85248" y="4251960"/>
            <a:ext cx="1325880" cy="777240"/>
          </a:xfrm>
          <a:prstGeom prst="rect">
            <a:avLst/>
          </a:prstGeom>
          <a:noFill/>
        </p:spPr>
        <p:txBody>
          <a:bodyPr wrap="none">
            <a:spAutoFit/>
          </a:bodyPr>
          <a:lstStyle/>
          <a:p>
            <a:pPr>
              <a:defRPr sz="1200" b="1">
                <a:solidFill>
                  <a:srgbClr val="0F2E58"/>
                </a:solidFill>
                <a:latin typeface="Arial"/>
              </a:defRPr>
            </a:pPr>
            <a:r>
              <a:t>Variance giữ lại</a:t>
            </a:r>
          </a:p>
          <a:p>
            <a:pPr>
              <a:defRPr sz="2200" b="1">
                <a:solidFill>
                  <a:srgbClr val="216BAB"/>
                </a:solidFill>
                <a:latin typeface="Arial"/>
              </a:defRPr>
            </a:pPr>
            <a:r>
              <a:t>87.0%</a:t>
            </a:r>
          </a:p>
        </p:txBody>
      </p:sp>
      <p:sp>
        <p:nvSpPr>
          <p:cNvPr id="17" name="TextBox 16"/>
          <p:cNvSpPr txBox="1"/>
          <p:nvPr/>
        </p:nvSpPr>
        <p:spPr>
          <a:xfrm>
            <a:off x="6583680" y="5394960"/>
            <a:ext cx="4663440" cy="457200"/>
          </a:xfrm>
          <a:prstGeom prst="rect">
            <a:avLst/>
          </a:prstGeom>
          <a:noFill/>
        </p:spPr>
        <p:txBody>
          <a:bodyPr wrap="square">
            <a:spAutoFit/>
          </a:bodyPr>
          <a:lstStyle/>
          <a:p>
            <a:pPr algn="ctr">
              <a:defRPr sz="1600" b="1">
                <a:solidFill>
                  <a:srgbClr val="2E7D32"/>
                </a:solidFill>
                <a:latin typeface="Arial"/>
              </a:defRPr>
            </a:pPr>
            <a:r>
              <a:t>Kết luận: SVD giúp rút gọn mạnh số chiều nhưng vẫn bảo toàn phần lớn thông tin.</a:t>
            </a:r>
          </a:p>
        </p:txBody>
      </p:sp>
      <p:sp>
        <p:nvSpPr>
          <p:cNvPr id="18" name="TextBox 17"/>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KẾT QUẢ PHÂN CỤM CẦU THỦ</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Clustering Result</a:t>
            </a:r>
          </a:p>
        </p:txBody>
      </p:sp>
      <p:pic>
        <p:nvPicPr>
          <p:cNvPr id="7" name="Picture 6" descr="cell_42_0.png"/>
          <p:cNvPicPr>
            <a:picLocks noChangeAspect="1"/>
          </p:cNvPicPr>
          <p:nvPr/>
        </p:nvPicPr>
        <p:blipFill>
          <a:blip r:embed="rId2"/>
          <a:stretch>
            <a:fillRect/>
          </a:stretch>
        </p:blipFill>
        <p:spPr>
          <a:xfrm>
            <a:off x="502920" y="914400"/>
            <a:ext cx="6217920" cy="3803820"/>
          </a:xfrm>
          <a:prstGeom prst="rect">
            <a:avLst/>
          </a:prstGeom>
        </p:spPr>
      </p:pic>
      <p:pic>
        <p:nvPicPr>
          <p:cNvPr id="8" name="Picture 7" descr="cluster_counts.png"/>
          <p:cNvPicPr>
            <a:picLocks noChangeAspect="1"/>
          </p:cNvPicPr>
          <p:nvPr/>
        </p:nvPicPr>
        <p:blipFill>
          <a:blip r:embed="rId3"/>
          <a:stretch>
            <a:fillRect/>
          </a:stretch>
        </p:blipFill>
        <p:spPr>
          <a:xfrm>
            <a:off x="6903720" y="1051560"/>
            <a:ext cx="4754880" cy="2674620"/>
          </a:xfrm>
          <a:prstGeom prst="rect">
            <a:avLst/>
          </a:prstGeom>
        </p:spPr>
      </p:pic>
      <p:sp>
        <p:nvSpPr>
          <p:cNvPr id="9" name="Rounded Rectangle 8"/>
          <p:cNvSpPr/>
          <p:nvPr/>
        </p:nvSpPr>
        <p:spPr>
          <a:xfrm>
            <a:off x="7132320" y="4892040"/>
            <a:ext cx="1371600" cy="77724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42048" y="4937760"/>
            <a:ext cx="1188720" cy="685800"/>
          </a:xfrm>
          <a:prstGeom prst="rect">
            <a:avLst/>
          </a:prstGeom>
          <a:noFill/>
        </p:spPr>
        <p:txBody>
          <a:bodyPr wrap="none">
            <a:spAutoFit/>
          </a:bodyPr>
          <a:lstStyle/>
          <a:p>
            <a:pPr>
              <a:defRPr sz="1200" b="1">
                <a:solidFill>
                  <a:srgbClr val="0F2E58"/>
                </a:solidFill>
                <a:latin typeface="Arial"/>
              </a:defRPr>
            </a:pPr>
            <a:r>
              <a:t>KMeans K</a:t>
            </a:r>
          </a:p>
          <a:p>
            <a:pPr>
              <a:defRPr sz="2200" b="1">
                <a:solidFill>
                  <a:srgbClr val="216BAB"/>
                </a:solidFill>
                <a:latin typeface="Arial"/>
              </a:defRPr>
            </a:pPr>
            <a:r>
              <a:t>6</a:t>
            </a:r>
          </a:p>
        </p:txBody>
      </p:sp>
      <p:sp>
        <p:nvSpPr>
          <p:cNvPr id="11" name="Rounded Rectangle 10"/>
          <p:cNvSpPr/>
          <p:nvPr/>
        </p:nvSpPr>
        <p:spPr>
          <a:xfrm>
            <a:off x="8732520" y="4892040"/>
            <a:ext cx="1371600" cy="77724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42248" y="4937760"/>
            <a:ext cx="1188720" cy="685800"/>
          </a:xfrm>
          <a:prstGeom prst="rect">
            <a:avLst/>
          </a:prstGeom>
          <a:noFill/>
        </p:spPr>
        <p:txBody>
          <a:bodyPr wrap="none">
            <a:spAutoFit/>
          </a:bodyPr>
          <a:lstStyle/>
          <a:p>
            <a:pPr>
              <a:defRPr sz="1200" b="1">
                <a:solidFill>
                  <a:srgbClr val="0F2E58"/>
                </a:solidFill>
                <a:latin typeface="Arial"/>
              </a:defRPr>
            </a:pPr>
            <a:r>
              <a:t>Silhouette</a:t>
            </a:r>
          </a:p>
          <a:p>
            <a:pPr>
              <a:defRPr sz="2200" b="1">
                <a:solidFill>
                  <a:srgbClr val="216BAB"/>
                </a:solidFill>
                <a:latin typeface="Arial"/>
              </a:defRPr>
            </a:pPr>
            <a:r>
              <a:t>0.4304</a:t>
            </a:r>
          </a:p>
        </p:txBody>
      </p:sp>
      <p:sp>
        <p:nvSpPr>
          <p:cNvPr id="13" name="Rounded Rectangle 12"/>
          <p:cNvSpPr/>
          <p:nvPr/>
        </p:nvSpPr>
        <p:spPr>
          <a:xfrm>
            <a:off x="10332720" y="4892040"/>
            <a:ext cx="1097280" cy="77724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42448" y="4937760"/>
            <a:ext cx="914400" cy="685800"/>
          </a:xfrm>
          <a:prstGeom prst="rect">
            <a:avLst/>
          </a:prstGeom>
          <a:noFill/>
        </p:spPr>
        <p:txBody>
          <a:bodyPr wrap="none">
            <a:spAutoFit/>
          </a:bodyPr>
          <a:lstStyle/>
          <a:p>
            <a:pPr>
              <a:defRPr sz="1200" b="1">
                <a:solidFill>
                  <a:srgbClr val="0F2E58"/>
                </a:solidFill>
                <a:latin typeface="Arial"/>
              </a:defRPr>
            </a:pPr>
            <a:r>
              <a:t>Đánh giá</a:t>
            </a:r>
          </a:p>
          <a:p>
            <a:pPr>
              <a:defRPr sz="2200" b="1">
                <a:solidFill>
                  <a:srgbClr val="216BAB"/>
                </a:solidFill>
                <a:latin typeface="Arial"/>
              </a:defRPr>
            </a:pPr>
            <a:r>
              <a:t>Tốt</a:t>
            </a:r>
          </a:p>
        </p:txBody>
      </p:sp>
      <p:sp>
        <p:nvSpPr>
          <p:cNvPr id="15" name="TextBox 14"/>
          <p:cNvSpPr txBox="1"/>
          <p:nvPr/>
        </p:nvSpPr>
        <p:spPr>
          <a:xfrm>
            <a:off x="6903720" y="5806440"/>
            <a:ext cx="4572000" cy="256032"/>
          </a:xfrm>
          <a:prstGeom prst="rect">
            <a:avLst/>
          </a:prstGeom>
          <a:noFill/>
        </p:spPr>
        <p:txBody>
          <a:bodyPr wrap="square">
            <a:spAutoFit/>
          </a:bodyPr>
          <a:lstStyle/>
          <a:p>
            <a:pPr algn="ctr">
              <a:defRPr sz="1400" b="0">
                <a:solidFill>
                  <a:srgbClr val="222222"/>
                </a:solidFill>
                <a:latin typeface="Arial"/>
              </a:defRPr>
            </a:pPr>
            <a:r>
              <a:t>Các cụm phân bố khá cân bằng và có thể phân tách trong không gian SVD 2D.</a:t>
            </a:r>
          </a:p>
        </p:txBody>
      </p:sp>
      <p:sp>
        <p:nvSpPr>
          <p:cNvPr id="16" name="TextBox 15"/>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HỒ SƠ 6 CỤM CẦU THỦ</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Cluster Profiles</a:t>
            </a:r>
          </a:p>
        </p:txBody>
      </p:sp>
      <p:graphicFrame>
        <p:nvGraphicFramePr>
          <p:cNvPr id="7" name="Table 6"/>
          <p:cNvGraphicFramePr>
            <a:graphicFrameLocks noGrp="1"/>
          </p:cNvGraphicFramePr>
          <p:nvPr/>
        </p:nvGraphicFramePr>
        <p:xfrm>
          <a:off x="411480" y="914400"/>
          <a:ext cx="11338560" cy="333756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476794">
                <a:tc>
                  <a:txBody>
                    <a:bodyPr/>
                    <a:lstStyle/>
                    <a:p>
                      <a:pPr algn="ctr">
                        <a:defRPr sz="1400" b="1">
                          <a:solidFill>
                            <a:srgbClr val="FFFFFF"/>
                          </a:solidFill>
                          <a:latin typeface="Arial"/>
                        </a:defRPr>
                      </a:pPr>
                      <a:r>
                        <a:t>Cụm</a:t>
                      </a:r>
                    </a:p>
                  </a:txBody>
                  <a:tcPr>
                    <a:solidFill>
                      <a:srgbClr val="0F2E58"/>
                    </a:solidFill>
                  </a:tcPr>
                </a:tc>
                <a:tc>
                  <a:txBody>
                    <a:bodyPr/>
                    <a:lstStyle/>
                    <a:p>
                      <a:pPr algn="ctr">
                        <a:defRPr sz="1400" b="1">
                          <a:solidFill>
                            <a:srgbClr val="FFFFFF"/>
                          </a:solidFill>
                          <a:latin typeface="Arial"/>
                        </a:defRPr>
                      </a:pPr>
                      <a:r>
                        <a:t>Đặc trưng mạnh</a:t>
                      </a:r>
                    </a:p>
                  </a:txBody>
                  <a:tcPr>
                    <a:solidFill>
                      <a:srgbClr val="0F2E58"/>
                    </a:solidFill>
                  </a:tcPr>
                </a:tc>
                <a:tc>
                  <a:txBody>
                    <a:bodyPr/>
                    <a:lstStyle/>
                    <a:p>
                      <a:pPr algn="ctr">
                        <a:defRPr sz="1400" b="1">
                          <a:solidFill>
                            <a:srgbClr val="FFFFFF"/>
                          </a:solidFill>
                          <a:latin typeface="Arial"/>
                        </a:defRPr>
                      </a:pPr>
                      <a:r>
                        <a:t>Đặc trưng yếu</a:t>
                      </a:r>
                    </a:p>
                  </a:txBody>
                  <a:tcPr>
                    <a:solidFill>
                      <a:srgbClr val="0F2E58"/>
                    </a:solidFill>
                  </a:tcPr>
                </a:tc>
                <a:tc>
                  <a:txBody>
                    <a:bodyPr/>
                    <a:lstStyle/>
                    <a:p>
                      <a:pPr algn="ctr">
                        <a:defRPr sz="1400" b="1">
                          <a:solidFill>
                            <a:srgbClr val="FFFFFF"/>
                          </a:solidFill>
                          <a:latin typeface="Arial"/>
                        </a:defRPr>
                      </a:pPr>
                      <a:r>
                        <a:t>Overall TB</a:t>
                      </a:r>
                    </a:p>
                  </a:txBody>
                  <a:tcPr>
                    <a:solidFill>
                      <a:srgbClr val="0F2E58"/>
                    </a:solidFill>
                  </a:tcPr>
                </a:tc>
                <a:extLst>
                  <a:ext uri="{0D108BD9-81ED-4DB2-BD59-A6C34878D82A}">
                    <a16:rowId xmlns:a16="http://schemas.microsoft.com/office/drawing/2014/main" val="10000"/>
                  </a:ext>
                </a:extLst>
              </a:tr>
              <a:tr h="476794">
                <a:tc>
                  <a:txBody>
                    <a:bodyPr/>
                    <a:lstStyle/>
                    <a:p>
                      <a:pPr algn="l">
                        <a:defRPr sz="1400">
                          <a:solidFill>
                            <a:srgbClr val="222222"/>
                          </a:solidFill>
                          <a:latin typeface="Arial"/>
                        </a:defRPr>
                      </a:pPr>
                      <a:r>
                        <a:t>0</a:t>
                      </a:r>
                    </a:p>
                  </a:txBody>
                  <a:tcPr>
                    <a:solidFill>
                      <a:srgbClr val="FFFFFF"/>
                    </a:solidFill>
                  </a:tcPr>
                </a:tc>
                <a:tc>
                  <a:txBody>
                    <a:bodyPr/>
                    <a:lstStyle/>
                    <a:p>
                      <a:pPr algn="l">
                        <a:defRPr sz="1400">
                          <a:solidFill>
                            <a:srgbClr val="222222"/>
                          </a:solidFill>
                          <a:latin typeface="Arial"/>
                        </a:defRPr>
                      </a:pPr>
                      <a:r>
                        <a:t>pace, dribbling</a:t>
                      </a:r>
                    </a:p>
                  </a:txBody>
                  <a:tcPr>
                    <a:solidFill>
                      <a:srgbClr val="FFFFFF"/>
                    </a:solidFill>
                  </a:tcPr>
                </a:tc>
                <a:tc>
                  <a:txBody>
                    <a:bodyPr/>
                    <a:lstStyle/>
                    <a:p>
                      <a:pPr algn="l">
                        <a:defRPr sz="1400">
                          <a:solidFill>
                            <a:srgbClr val="222222"/>
                          </a:solidFill>
                          <a:latin typeface="Arial"/>
                        </a:defRPr>
                      </a:pPr>
                      <a:r>
                        <a:t>defending, passing</a:t>
                      </a:r>
                    </a:p>
                  </a:txBody>
                  <a:tcPr>
                    <a:solidFill>
                      <a:srgbClr val="FFFFFF"/>
                    </a:solidFill>
                  </a:tcPr>
                </a:tc>
                <a:tc>
                  <a:txBody>
                    <a:bodyPr/>
                    <a:lstStyle/>
                    <a:p>
                      <a:pPr algn="l">
                        <a:defRPr sz="1400">
                          <a:solidFill>
                            <a:srgbClr val="222222"/>
                          </a:solidFill>
                          <a:latin typeface="Arial"/>
                        </a:defRPr>
                      </a:pPr>
                      <a:r>
                        <a:t>59.1</a:t>
                      </a:r>
                    </a:p>
                  </a:txBody>
                  <a:tcPr>
                    <a:solidFill>
                      <a:srgbClr val="FFFFFF"/>
                    </a:solidFill>
                  </a:tcPr>
                </a:tc>
                <a:extLst>
                  <a:ext uri="{0D108BD9-81ED-4DB2-BD59-A6C34878D82A}">
                    <a16:rowId xmlns:a16="http://schemas.microsoft.com/office/drawing/2014/main" val="10001"/>
                  </a:ext>
                </a:extLst>
              </a:tr>
              <a:tr h="476794">
                <a:tc>
                  <a:txBody>
                    <a:bodyPr/>
                    <a:lstStyle/>
                    <a:p>
                      <a:pPr algn="l">
                        <a:defRPr sz="1400">
                          <a:solidFill>
                            <a:srgbClr val="222222"/>
                          </a:solidFill>
                          <a:latin typeface="Arial"/>
                        </a:defRPr>
                      </a:pPr>
                      <a:r>
                        <a:t>1</a:t>
                      </a:r>
                    </a:p>
                  </a:txBody>
                  <a:tcPr>
                    <a:solidFill>
                      <a:srgbClr val="F5F7FA"/>
                    </a:solidFill>
                  </a:tcPr>
                </a:tc>
                <a:tc>
                  <a:txBody>
                    <a:bodyPr/>
                    <a:lstStyle/>
                    <a:p>
                      <a:pPr algn="l">
                        <a:defRPr sz="1400">
                          <a:solidFill>
                            <a:srgbClr val="222222"/>
                          </a:solidFill>
                          <a:latin typeface="Arial"/>
                        </a:defRPr>
                      </a:pPr>
                      <a:r>
                        <a:t>physic, pace</a:t>
                      </a:r>
                    </a:p>
                  </a:txBody>
                  <a:tcPr>
                    <a:solidFill>
                      <a:srgbClr val="F5F7FA"/>
                    </a:solidFill>
                  </a:tcPr>
                </a:tc>
                <a:tc>
                  <a:txBody>
                    <a:bodyPr/>
                    <a:lstStyle/>
                    <a:p>
                      <a:pPr algn="l">
                        <a:defRPr sz="1400">
                          <a:solidFill>
                            <a:srgbClr val="222222"/>
                          </a:solidFill>
                          <a:latin typeface="Arial"/>
                        </a:defRPr>
                      </a:pPr>
                      <a:r>
                        <a:t>shooting, defending</a:t>
                      </a:r>
                    </a:p>
                  </a:txBody>
                  <a:tcPr>
                    <a:solidFill>
                      <a:srgbClr val="F5F7FA"/>
                    </a:solidFill>
                  </a:tcPr>
                </a:tc>
                <a:tc>
                  <a:txBody>
                    <a:bodyPr/>
                    <a:lstStyle/>
                    <a:p>
                      <a:pPr algn="l">
                        <a:defRPr sz="1400">
                          <a:solidFill>
                            <a:srgbClr val="222222"/>
                          </a:solidFill>
                          <a:latin typeface="Arial"/>
                        </a:defRPr>
                      </a:pPr>
                      <a:r>
                        <a:t>72.5</a:t>
                      </a:r>
                    </a:p>
                  </a:txBody>
                  <a:tcPr>
                    <a:solidFill>
                      <a:srgbClr val="F5F7FA"/>
                    </a:solidFill>
                  </a:tcPr>
                </a:tc>
                <a:extLst>
                  <a:ext uri="{0D108BD9-81ED-4DB2-BD59-A6C34878D82A}">
                    <a16:rowId xmlns:a16="http://schemas.microsoft.com/office/drawing/2014/main" val="10002"/>
                  </a:ext>
                </a:extLst>
              </a:tr>
              <a:tr h="476794">
                <a:tc>
                  <a:txBody>
                    <a:bodyPr/>
                    <a:lstStyle/>
                    <a:p>
                      <a:pPr algn="l">
                        <a:defRPr sz="1400">
                          <a:solidFill>
                            <a:srgbClr val="222222"/>
                          </a:solidFill>
                          <a:latin typeface="Arial"/>
                        </a:defRPr>
                      </a:pPr>
                      <a:r>
                        <a:t>2</a:t>
                      </a:r>
                    </a:p>
                  </a:txBody>
                  <a:tcPr>
                    <a:solidFill>
                      <a:srgbClr val="FFFFFF"/>
                    </a:solidFill>
                  </a:tcPr>
                </a:tc>
                <a:tc>
                  <a:txBody>
                    <a:bodyPr/>
                    <a:lstStyle/>
                    <a:p>
                      <a:pPr algn="l">
                        <a:defRPr sz="1400">
                          <a:solidFill>
                            <a:srgbClr val="222222"/>
                          </a:solidFill>
                          <a:latin typeface="Arial"/>
                        </a:defRPr>
                      </a:pPr>
                      <a:r>
                        <a:t>physic, defending</a:t>
                      </a:r>
                    </a:p>
                  </a:txBody>
                  <a:tcPr>
                    <a:solidFill>
                      <a:srgbClr val="FFFFFF"/>
                    </a:solidFill>
                  </a:tcPr>
                </a:tc>
                <a:tc>
                  <a:txBody>
                    <a:bodyPr/>
                    <a:lstStyle/>
                    <a:p>
                      <a:pPr algn="l">
                        <a:defRPr sz="1400">
                          <a:solidFill>
                            <a:srgbClr val="222222"/>
                          </a:solidFill>
                          <a:latin typeface="Arial"/>
                        </a:defRPr>
                      </a:pPr>
                      <a:r>
                        <a:t>pace, shooting</a:t>
                      </a:r>
                    </a:p>
                  </a:txBody>
                  <a:tcPr>
                    <a:solidFill>
                      <a:srgbClr val="FFFFFF"/>
                    </a:solidFill>
                  </a:tcPr>
                </a:tc>
                <a:tc>
                  <a:txBody>
                    <a:bodyPr/>
                    <a:lstStyle/>
                    <a:p>
                      <a:pPr algn="l">
                        <a:defRPr sz="1400">
                          <a:solidFill>
                            <a:srgbClr val="222222"/>
                          </a:solidFill>
                          <a:latin typeface="Arial"/>
                        </a:defRPr>
                      </a:pPr>
                      <a:r>
                        <a:t>67.7</a:t>
                      </a:r>
                    </a:p>
                  </a:txBody>
                  <a:tcPr>
                    <a:solidFill>
                      <a:srgbClr val="FFFFFF"/>
                    </a:solidFill>
                  </a:tcPr>
                </a:tc>
                <a:extLst>
                  <a:ext uri="{0D108BD9-81ED-4DB2-BD59-A6C34878D82A}">
                    <a16:rowId xmlns:a16="http://schemas.microsoft.com/office/drawing/2014/main" val="10003"/>
                  </a:ext>
                </a:extLst>
              </a:tr>
              <a:tr h="476794">
                <a:tc>
                  <a:txBody>
                    <a:bodyPr/>
                    <a:lstStyle/>
                    <a:p>
                      <a:pPr algn="l">
                        <a:defRPr sz="1400">
                          <a:solidFill>
                            <a:srgbClr val="222222"/>
                          </a:solidFill>
                          <a:latin typeface="Arial"/>
                        </a:defRPr>
                      </a:pPr>
                      <a:r>
                        <a:t>3</a:t>
                      </a:r>
                    </a:p>
                  </a:txBody>
                  <a:tcPr>
                    <a:solidFill>
                      <a:srgbClr val="F5F7FA"/>
                    </a:solidFill>
                  </a:tcPr>
                </a:tc>
                <a:tc>
                  <a:txBody>
                    <a:bodyPr/>
                    <a:lstStyle/>
                    <a:p>
                      <a:pPr algn="l">
                        <a:defRPr sz="1400">
                          <a:solidFill>
                            <a:srgbClr val="222222"/>
                          </a:solidFill>
                          <a:latin typeface="Arial"/>
                        </a:defRPr>
                      </a:pPr>
                      <a:r>
                        <a:t>physic, defending</a:t>
                      </a:r>
                    </a:p>
                  </a:txBody>
                  <a:tcPr>
                    <a:solidFill>
                      <a:srgbClr val="F5F7FA"/>
                    </a:solidFill>
                  </a:tcPr>
                </a:tc>
                <a:tc>
                  <a:txBody>
                    <a:bodyPr/>
                    <a:lstStyle/>
                    <a:p>
                      <a:pPr algn="l">
                        <a:defRPr sz="1400">
                          <a:solidFill>
                            <a:srgbClr val="222222"/>
                          </a:solidFill>
                          <a:latin typeface="Arial"/>
                        </a:defRPr>
                      </a:pPr>
                      <a:r>
                        <a:t>shooting, passing</a:t>
                      </a:r>
                    </a:p>
                  </a:txBody>
                  <a:tcPr>
                    <a:solidFill>
                      <a:srgbClr val="F5F7FA"/>
                    </a:solidFill>
                  </a:tcPr>
                </a:tc>
                <a:tc>
                  <a:txBody>
                    <a:bodyPr/>
                    <a:lstStyle/>
                    <a:p>
                      <a:pPr algn="l">
                        <a:defRPr sz="1400">
                          <a:solidFill>
                            <a:srgbClr val="222222"/>
                          </a:solidFill>
                          <a:latin typeface="Arial"/>
                        </a:defRPr>
                      </a:pPr>
                      <a:r>
                        <a:t>61.6</a:t>
                      </a:r>
                    </a:p>
                  </a:txBody>
                  <a:tcPr>
                    <a:solidFill>
                      <a:srgbClr val="F5F7FA"/>
                    </a:solidFill>
                  </a:tcPr>
                </a:tc>
                <a:extLst>
                  <a:ext uri="{0D108BD9-81ED-4DB2-BD59-A6C34878D82A}">
                    <a16:rowId xmlns:a16="http://schemas.microsoft.com/office/drawing/2014/main" val="10004"/>
                  </a:ext>
                </a:extLst>
              </a:tr>
              <a:tr h="476794">
                <a:tc>
                  <a:txBody>
                    <a:bodyPr/>
                    <a:lstStyle/>
                    <a:p>
                      <a:pPr algn="l">
                        <a:defRPr sz="1400">
                          <a:solidFill>
                            <a:srgbClr val="222222"/>
                          </a:solidFill>
                          <a:latin typeface="Arial"/>
                        </a:defRPr>
                      </a:pPr>
                      <a:r>
                        <a:t>4</a:t>
                      </a:r>
                    </a:p>
                  </a:txBody>
                  <a:tcPr>
                    <a:solidFill>
                      <a:srgbClr val="FFFFFF"/>
                    </a:solidFill>
                  </a:tcPr>
                </a:tc>
                <a:tc>
                  <a:txBody>
                    <a:bodyPr/>
                    <a:lstStyle/>
                    <a:p>
                      <a:pPr algn="l">
                        <a:defRPr sz="1400">
                          <a:solidFill>
                            <a:srgbClr val="222222"/>
                          </a:solidFill>
                          <a:latin typeface="Arial"/>
                        </a:defRPr>
                      </a:pPr>
                      <a:r>
                        <a:t>pace, physic</a:t>
                      </a:r>
                    </a:p>
                  </a:txBody>
                  <a:tcPr>
                    <a:solidFill>
                      <a:srgbClr val="FFFFFF"/>
                    </a:solidFill>
                  </a:tcPr>
                </a:tc>
                <a:tc>
                  <a:txBody>
                    <a:bodyPr/>
                    <a:lstStyle/>
                    <a:p>
                      <a:pPr algn="l">
                        <a:defRPr sz="1400">
                          <a:solidFill>
                            <a:srgbClr val="222222"/>
                          </a:solidFill>
                          <a:latin typeface="Arial"/>
                        </a:defRPr>
                      </a:pPr>
                      <a:r>
                        <a:t>shooting, passing</a:t>
                      </a:r>
                    </a:p>
                  </a:txBody>
                  <a:tcPr>
                    <a:solidFill>
                      <a:srgbClr val="FFFFFF"/>
                    </a:solidFill>
                  </a:tcPr>
                </a:tc>
                <a:tc>
                  <a:txBody>
                    <a:bodyPr/>
                    <a:lstStyle/>
                    <a:p>
                      <a:pPr algn="l">
                        <a:defRPr sz="1400">
                          <a:solidFill>
                            <a:srgbClr val="222222"/>
                          </a:solidFill>
                          <a:latin typeface="Arial"/>
                        </a:defRPr>
                      </a:pPr>
                      <a:r>
                        <a:t>65.0</a:t>
                      </a:r>
                    </a:p>
                  </a:txBody>
                  <a:tcPr>
                    <a:solidFill>
                      <a:srgbClr val="FFFFFF"/>
                    </a:solidFill>
                  </a:tcPr>
                </a:tc>
                <a:extLst>
                  <a:ext uri="{0D108BD9-81ED-4DB2-BD59-A6C34878D82A}">
                    <a16:rowId xmlns:a16="http://schemas.microsoft.com/office/drawing/2014/main" val="10005"/>
                  </a:ext>
                </a:extLst>
              </a:tr>
              <a:tr h="476796">
                <a:tc>
                  <a:txBody>
                    <a:bodyPr/>
                    <a:lstStyle/>
                    <a:p>
                      <a:pPr algn="l">
                        <a:defRPr sz="1400">
                          <a:solidFill>
                            <a:srgbClr val="222222"/>
                          </a:solidFill>
                          <a:latin typeface="Arial"/>
                        </a:defRPr>
                      </a:pPr>
                      <a:r>
                        <a:t>5</a:t>
                      </a:r>
                    </a:p>
                  </a:txBody>
                  <a:tcPr>
                    <a:solidFill>
                      <a:srgbClr val="F5F7FA"/>
                    </a:solidFill>
                  </a:tcPr>
                </a:tc>
                <a:tc>
                  <a:txBody>
                    <a:bodyPr/>
                    <a:lstStyle/>
                    <a:p>
                      <a:pPr algn="l">
                        <a:defRPr sz="1400">
                          <a:solidFill>
                            <a:srgbClr val="222222"/>
                          </a:solidFill>
                          <a:latin typeface="Arial"/>
                        </a:defRPr>
                      </a:pPr>
                      <a:r>
                        <a:t>pace, dribbling</a:t>
                      </a:r>
                    </a:p>
                  </a:txBody>
                  <a:tcPr>
                    <a:solidFill>
                      <a:srgbClr val="F5F7FA"/>
                    </a:solidFill>
                  </a:tcPr>
                </a:tc>
                <a:tc>
                  <a:txBody>
                    <a:bodyPr/>
                    <a:lstStyle/>
                    <a:p>
                      <a:pPr algn="l">
                        <a:defRPr sz="1400">
                          <a:solidFill>
                            <a:srgbClr val="222222"/>
                          </a:solidFill>
                          <a:latin typeface="Arial"/>
                        </a:defRPr>
                      </a:pPr>
                      <a:r>
                        <a:t>defending, physic</a:t>
                      </a:r>
                    </a:p>
                  </a:txBody>
                  <a:tcPr>
                    <a:solidFill>
                      <a:srgbClr val="F5F7FA"/>
                    </a:solidFill>
                  </a:tcPr>
                </a:tc>
                <a:tc>
                  <a:txBody>
                    <a:bodyPr/>
                    <a:lstStyle/>
                    <a:p>
                      <a:pPr algn="l">
                        <a:defRPr sz="1400">
                          <a:solidFill>
                            <a:srgbClr val="222222"/>
                          </a:solidFill>
                          <a:latin typeface="Arial"/>
                        </a:defRPr>
                      </a:pPr>
                      <a:r>
                        <a:t>69.7</a:t>
                      </a:r>
                    </a:p>
                  </a:txBody>
                  <a:tcPr>
                    <a:solidFill>
                      <a:srgbClr val="F5F7FA"/>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640080" y="4526280"/>
            <a:ext cx="10972800" cy="320040"/>
          </a:xfrm>
          <a:prstGeom prst="rect">
            <a:avLst/>
          </a:prstGeom>
          <a:noFill/>
        </p:spPr>
        <p:txBody>
          <a:bodyPr wrap="square">
            <a:spAutoFit/>
          </a:bodyPr>
          <a:lstStyle/>
          <a:p>
            <a:pPr algn="l">
              <a:defRPr sz="2100" b="1">
                <a:solidFill>
                  <a:srgbClr val="0F2E58"/>
                </a:solidFill>
                <a:latin typeface="Arial"/>
              </a:defRPr>
            </a:pPr>
            <a:r>
              <a:t>Nhận xét</a:t>
            </a:r>
          </a:p>
        </p:txBody>
      </p:sp>
      <p:sp>
        <p:nvSpPr>
          <p:cNvPr id="9" name="TextBox 8"/>
          <p:cNvSpPr txBox="1"/>
          <p:nvPr/>
        </p:nvSpPr>
        <p:spPr>
          <a:xfrm>
            <a:off x="822960" y="4892040"/>
            <a:ext cx="10789920" cy="1097280"/>
          </a:xfrm>
          <a:prstGeom prst="rect">
            <a:avLst/>
          </a:prstGeom>
          <a:noFill/>
        </p:spPr>
        <p:txBody>
          <a:bodyPr wrap="square" lIns="25400" tIns="25400" rIns="25400" bIns="25400">
            <a:spAutoFit/>
          </a:bodyPr>
          <a:lstStyle/>
          <a:p>
            <a:pPr>
              <a:spcAft>
                <a:spcPts val="800"/>
              </a:spcAft>
              <a:defRPr sz="1600">
                <a:solidFill>
                  <a:srgbClr val="222222"/>
                </a:solidFill>
                <a:latin typeface="Arial"/>
              </a:defRPr>
            </a:pPr>
            <a:r>
              <a:t>Các cụm phản ánh các phong cách chơi khác nhau như nhóm thiên tốc độ/rê bóng, nhóm thiên thể lực/phòng ngự, nhóm cân bằng.</a:t>
            </a:r>
          </a:p>
          <a:p>
            <a:pPr>
              <a:spcAft>
                <a:spcPts val="800"/>
              </a:spcAft>
              <a:defRPr sz="1600">
                <a:solidFill>
                  <a:srgbClr val="222222"/>
                </a:solidFill>
                <a:latin typeface="Arial"/>
              </a:defRPr>
            </a:pPr>
            <a:r>
              <a:t>Kết quả phân cụm có ý nghĩa thực tế, hỗ trợ scouting và phân tích chiến thuật cầu thủ.</a:t>
            </a:r>
          </a:p>
        </p:txBody>
      </p:sp>
      <p:sp>
        <p:nvSpPr>
          <p:cNvPr id="10" name="TextBox 9"/>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PLAYER SIMILARITY</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Cosine Similarity</a:t>
            </a:r>
          </a:p>
        </p:txBody>
      </p:sp>
      <p:pic>
        <p:nvPicPr>
          <p:cNvPr id="7" name="Picture 6" descr="messi_similarity.png"/>
          <p:cNvPicPr>
            <a:picLocks noChangeAspect="1"/>
          </p:cNvPicPr>
          <p:nvPr/>
        </p:nvPicPr>
        <p:blipFill>
          <a:blip r:embed="rId2"/>
          <a:stretch>
            <a:fillRect/>
          </a:stretch>
        </p:blipFill>
        <p:spPr>
          <a:xfrm>
            <a:off x="594360" y="1097280"/>
            <a:ext cx="5486400" cy="3086100"/>
          </a:xfrm>
          <a:prstGeom prst="rect">
            <a:avLst/>
          </a:prstGeom>
        </p:spPr>
      </p:pic>
      <p:graphicFrame>
        <p:nvGraphicFramePr>
          <p:cNvPr id="8" name="Table 7"/>
          <p:cNvGraphicFramePr>
            <a:graphicFrameLocks noGrp="1"/>
          </p:cNvGraphicFramePr>
          <p:nvPr/>
        </p:nvGraphicFramePr>
        <p:xfrm>
          <a:off x="6446520" y="1051560"/>
          <a:ext cx="5074920" cy="292608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487680">
                <a:tc>
                  <a:txBody>
                    <a:bodyPr/>
                    <a:lstStyle/>
                    <a:p>
                      <a:pPr algn="ctr">
                        <a:defRPr sz="1400" b="1">
                          <a:solidFill>
                            <a:srgbClr val="FFFFFF"/>
                          </a:solidFill>
                          <a:latin typeface="Arial"/>
                        </a:defRPr>
                      </a:pPr>
                      <a:r>
                        <a:t>Cầu thủ</a:t>
                      </a:r>
                    </a:p>
                  </a:txBody>
                  <a:tcPr>
                    <a:solidFill>
                      <a:srgbClr val="0F2E58"/>
                    </a:solidFill>
                  </a:tcPr>
                </a:tc>
                <a:tc>
                  <a:txBody>
                    <a:bodyPr/>
                    <a:lstStyle/>
                    <a:p>
                      <a:pPr algn="ctr">
                        <a:defRPr sz="1400" b="1">
                          <a:solidFill>
                            <a:srgbClr val="FFFFFF"/>
                          </a:solidFill>
                          <a:latin typeface="Arial"/>
                        </a:defRPr>
                      </a:pPr>
                      <a:r>
                        <a:t>Similarity</a:t>
                      </a:r>
                    </a:p>
                  </a:txBody>
                  <a:tcPr>
                    <a:solidFill>
                      <a:srgbClr val="0F2E58"/>
                    </a:solidFill>
                  </a:tcPr>
                </a:tc>
                <a:tc>
                  <a:txBody>
                    <a:bodyPr/>
                    <a:lstStyle/>
                    <a:p>
                      <a:pPr algn="ctr">
                        <a:defRPr sz="1400" b="1">
                          <a:solidFill>
                            <a:srgbClr val="FFFFFF"/>
                          </a:solidFill>
                          <a:latin typeface="Arial"/>
                        </a:defRPr>
                      </a:pPr>
                      <a:r>
                        <a:t>Overall</a:t>
                      </a:r>
                    </a:p>
                  </a:txBody>
                  <a:tcPr>
                    <a:solidFill>
                      <a:srgbClr val="0F2E58"/>
                    </a:solidFill>
                  </a:tcPr>
                </a:tc>
                <a:extLst>
                  <a:ext uri="{0D108BD9-81ED-4DB2-BD59-A6C34878D82A}">
                    <a16:rowId xmlns:a16="http://schemas.microsoft.com/office/drawing/2014/main" val="10000"/>
                  </a:ext>
                </a:extLst>
              </a:tr>
              <a:tr h="487680">
                <a:tc>
                  <a:txBody>
                    <a:bodyPr/>
                    <a:lstStyle/>
                    <a:p>
                      <a:pPr algn="l">
                        <a:defRPr sz="1400">
                          <a:solidFill>
                            <a:srgbClr val="222222"/>
                          </a:solidFill>
                          <a:latin typeface="Arial"/>
                        </a:defRPr>
                      </a:pPr>
                      <a:r>
                        <a:t>A. Robben</a:t>
                      </a:r>
                    </a:p>
                  </a:txBody>
                  <a:tcPr>
                    <a:solidFill>
                      <a:srgbClr val="FFFFFF"/>
                    </a:solidFill>
                  </a:tcPr>
                </a:tc>
                <a:tc>
                  <a:txBody>
                    <a:bodyPr/>
                    <a:lstStyle/>
                    <a:p>
                      <a:pPr algn="l">
                        <a:defRPr sz="1400">
                          <a:solidFill>
                            <a:srgbClr val="222222"/>
                          </a:solidFill>
                          <a:latin typeface="Arial"/>
                        </a:defRPr>
                      </a:pPr>
                      <a:r>
                        <a:t>0.9988</a:t>
                      </a:r>
                    </a:p>
                  </a:txBody>
                  <a:tcPr>
                    <a:solidFill>
                      <a:srgbClr val="FFFFFF"/>
                    </a:solidFill>
                  </a:tcPr>
                </a:tc>
                <a:tc>
                  <a:txBody>
                    <a:bodyPr/>
                    <a:lstStyle/>
                    <a:p>
                      <a:pPr algn="l">
                        <a:defRPr sz="1400">
                          <a:solidFill>
                            <a:srgbClr val="222222"/>
                          </a:solidFill>
                          <a:latin typeface="Arial"/>
                        </a:defRPr>
                      </a:pPr>
                      <a:r>
                        <a:t>90</a:t>
                      </a:r>
                    </a:p>
                  </a:txBody>
                  <a:tcPr>
                    <a:solidFill>
                      <a:srgbClr val="FFFFFF"/>
                    </a:solidFill>
                  </a:tcPr>
                </a:tc>
                <a:extLst>
                  <a:ext uri="{0D108BD9-81ED-4DB2-BD59-A6C34878D82A}">
                    <a16:rowId xmlns:a16="http://schemas.microsoft.com/office/drawing/2014/main" val="10001"/>
                  </a:ext>
                </a:extLst>
              </a:tr>
              <a:tr h="487680">
                <a:tc>
                  <a:txBody>
                    <a:bodyPr/>
                    <a:lstStyle/>
                    <a:p>
                      <a:pPr algn="l">
                        <a:defRPr sz="1400">
                          <a:solidFill>
                            <a:srgbClr val="222222"/>
                          </a:solidFill>
                          <a:latin typeface="Arial"/>
                        </a:defRPr>
                      </a:pPr>
                      <a:r>
                        <a:t>E. Hazard</a:t>
                      </a:r>
                    </a:p>
                  </a:txBody>
                  <a:tcPr>
                    <a:solidFill>
                      <a:srgbClr val="F5F7FA"/>
                    </a:solidFill>
                  </a:tcPr>
                </a:tc>
                <a:tc>
                  <a:txBody>
                    <a:bodyPr/>
                    <a:lstStyle/>
                    <a:p>
                      <a:pPr algn="l">
                        <a:defRPr sz="1400">
                          <a:solidFill>
                            <a:srgbClr val="222222"/>
                          </a:solidFill>
                          <a:latin typeface="Arial"/>
                        </a:defRPr>
                      </a:pPr>
                      <a:r>
                        <a:t>0.9985</a:t>
                      </a:r>
                    </a:p>
                  </a:txBody>
                  <a:tcPr>
                    <a:solidFill>
                      <a:srgbClr val="F5F7FA"/>
                    </a:solidFill>
                  </a:tcPr>
                </a:tc>
                <a:tc>
                  <a:txBody>
                    <a:bodyPr/>
                    <a:lstStyle/>
                    <a:p>
                      <a:pPr algn="l">
                        <a:defRPr sz="1400">
                          <a:solidFill>
                            <a:srgbClr val="222222"/>
                          </a:solidFill>
                          <a:latin typeface="Arial"/>
                        </a:defRPr>
                      </a:pPr>
                      <a:r>
                        <a:t>88</a:t>
                      </a:r>
                    </a:p>
                  </a:txBody>
                  <a:tcPr>
                    <a:solidFill>
                      <a:srgbClr val="F5F7FA"/>
                    </a:solidFill>
                  </a:tcPr>
                </a:tc>
                <a:extLst>
                  <a:ext uri="{0D108BD9-81ED-4DB2-BD59-A6C34878D82A}">
                    <a16:rowId xmlns:a16="http://schemas.microsoft.com/office/drawing/2014/main" val="10002"/>
                  </a:ext>
                </a:extLst>
              </a:tr>
              <a:tr h="487680">
                <a:tc>
                  <a:txBody>
                    <a:bodyPr/>
                    <a:lstStyle/>
                    <a:p>
                      <a:pPr algn="l">
                        <a:defRPr sz="1400">
                          <a:solidFill>
                            <a:srgbClr val="222222"/>
                          </a:solidFill>
                          <a:latin typeface="Arial"/>
                        </a:defRPr>
                      </a:pPr>
                      <a:r>
                        <a:t>Neymar</a:t>
                      </a:r>
                    </a:p>
                  </a:txBody>
                  <a:tcPr>
                    <a:solidFill>
                      <a:srgbClr val="FFFFFF"/>
                    </a:solidFill>
                  </a:tcPr>
                </a:tc>
                <a:tc>
                  <a:txBody>
                    <a:bodyPr/>
                    <a:lstStyle/>
                    <a:p>
                      <a:pPr algn="l">
                        <a:defRPr sz="1400">
                          <a:solidFill>
                            <a:srgbClr val="222222"/>
                          </a:solidFill>
                          <a:latin typeface="Arial"/>
                        </a:defRPr>
                      </a:pPr>
                      <a:r>
                        <a:t>0.9948</a:t>
                      </a:r>
                    </a:p>
                  </a:txBody>
                  <a:tcPr>
                    <a:solidFill>
                      <a:srgbClr val="FFFFFF"/>
                    </a:solidFill>
                  </a:tcPr>
                </a:tc>
                <a:tc>
                  <a:txBody>
                    <a:bodyPr/>
                    <a:lstStyle/>
                    <a:p>
                      <a:pPr algn="l">
                        <a:defRPr sz="1400">
                          <a:solidFill>
                            <a:srgbClr val="222222"/>
                          </a:solidFill>
                          <a:latin typeface="Arial"/>
                        </a:defRPr>
                      </a:pPr>
                      <a:r>
                        <a:t>92</a:t>
                      </a:r>
                    </a:p>
                  </a:txBody>
                  <a:tcPr>
                    <a:solidFill>
                      <a:srgbClr val="FFFFFF"/>
                    </a:solidFill>
                  </a:tcPr>
                </a:tc>
                <a:extLst>
                  <a:ext uri="{0D108BD9-81ED-4DB2-BD59-A6C34878D82A}">
                    <a16:rowId xmlns:a16="http://schemas.microsoft.com/office/drawing/2014/main" val="10003"/>
                  </a:ext>
                </a:extLst>
              </a:tr>
              <a:tr h="487680">
                <a:tc>
                  <a:txBody>
                    <a:bodyPr/>
                    <a:lstStyle/>
                    <a:p>
                      <a:pPr algn="l">
                        <a:defRPr sz="1400">
                          <a:solidFill>
                            <a:srgbClr val="222222"/>
                          </a:solidFill>
                          <a:latin typeface="Arial"/>
                        </a:defRPr>
                      </a:pPr>
                      <a:r>
                        <a:t>F. Ribéry</a:t>
                      </a:r>
                    </a:p>
                  </a:txBody>
                  <a:tcPr>
                    <a:solidFill>
                      <a:srgbClr val="F5F7FA"/>
                    </a:solidFill>
                  </a:tcPr>
                </a:tc>
                <a:tc>
                  <a:txBody>
                    <a:bodyPr/>
                    <a:lstStyle/>
                    <a:p>
                      <a:pPr algn="l">
                        <a:defRPr sz="1400">
                          <a:solidFill>
                            <a:srgbClr val="222222"/>
                          </a:solidFill>
                          <a:latin typeface="Arial"/>
                        </a:defRPr>
                      </a:pPr>
                      <a:r>
                        <a:t>0.9939</a:t>
                      </a:r>
                    </a:p>
                  </a:txBody>
                  <a:tcPr>
                    <a:solidFill>
                      <a:srgbClr val="F5F7FA"/>
                    </a:solidFill>
                  </a:tcPr>
                </a:tc>
                <a:tc>
                  <a:txBody>
                    <a:bodyPr/>
                    <a:lstStyle/>
                    <a:p>
                      <a:pPr algn="l">
                        <a:defRPr sz="1400">
                          <a:solidFill>
                            <a:srgbClr val="222222"/>
                          </a:solidFill>
                          <a:latin typeface="Arial"/>
                        </a:defRPr>
                      </a:pPr>
                      <a:r>
                        <a:t>88</a:t>
                      </a:r>
                    </a:p>
                  </a:txBody>
                  <a:tcPr>
                    <a:solidFill>
                      <a:srgbClr val="F5F7FA"/>
                    </a:solidFill>
                  </a:tcPr>
                </a:tc>
                <a:extLst>
                  <a:ext uri="{0D108BD9-81ED-4DB2-BD59-A6C34878D82A}">
                    <a16:rowId xmlns:a16="http://schemas.microsoft.com/office/drawing/2014/main" val="10004"/>
                  </a:ext>
                </a:extLst>
              </a:tr>
              <a:tr h="487680">
                <a:tc>
                  <a:txBody>
                    <a:bodyPr/>
                    <a:lstStyle/>
                    <a:p>
                      <a:pPr algn="l">
                        <a:defRPr sz="1400">
                          <a:solidFill>
                            <a:srgbClr val="222222"/>
                          </a:solidFill>
                          <a:latin typeface="Arial"/>
                        </a:defRPr>
                      </a:pPr>
                      <a:r>
                        <a:t>P. Dybala</a:t>
                      </a:r>
                    </a:p>
                  </a:txBody>
                  <a:tcPr>
                    <a:solidFill>
                      <a:srgbClr val="FFFFFF"/>
                    </a:solidFill>
                  </a:tcPr>
                </a:tc>
                <a:tc>
                  <a:txBody>
                    <a:bodyPr/>
                    <a:lstStyle/>
                    <a:p>
                      <a:pPr algn="l">
                        <a:defRPr sz="1400">
                          <a:solidFill>
                            <a:srgbClr val="222222"/>
                          </a:solidFill>
                          <a:latin typeface="Arial"/>
                        </a:defRPr>
                      </a:pPr>
                      <a:r>
                        <a:t>0.9934</a:t>
                      </a:r>
                    </a:p>
                  </a:txBody>
                  <a:tcPr>
                    <a:solidFill>
                      <a:srgbClr val="FFFFFF"/>
                    </a:solidFill>
                  </a:tcPr>
                </a:tc>
                <a:tc>
                  <a:txBody>
                    <a:bodyPr/>
                    <a:lstStyle/>
                    <a:p>
                      <a:pPr algn="l">
                        <a:defRPr sz="1400">
                          <a:solidFill>
                            <a:srgbClr val="222222"/>
                          </a:solidFill>
                          <a:latin typeface="Arial"/>
                        </a:defRPr>
                      </a:pPr>
                      <a:r>
                        <a:t>89</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492240" y="4297680"/>
            <a:ext cx="4754880" cy="320040"/>
          </a:xfrm>
          <a:prstGeom prst="rect">
            <a:avLst/>
          </a:prstGeom>
          <a:noFill/>
        </p:spPr>
        <p:txBody>
          <a:bodyPr wrap="square">
            <a:spAutoFit/>
          </a:bodyPr>
          <a:lstStyle/>
          <a:p>
            <a:pPr algn="l">
              <a:defRPr sz="2100" b="1">
                <a:solidFill>
                  <a:srgbClr val="0F2E58"/>
                </a:solidFill>
                <a:latin typeface="Arial"/>
              </a:defRPr>
            </a:pPr>
            <a:r>
              <a:t>Ý nghĩa</a:t>
            </a:r>
          </a:p>
        </p:txBody>
      </p:sp>
      <p:sp>
        <p:nvSpPr>
          <p:cNvPr id="10" name="TextBox 9"/>
          <p:cNvSpPr txBox="1"/>
          <p:nvPr/>
        </p:nvSpPr>
        <p:spPr>
          <a:xfrm>
            <a:off x="6583680" y="4709160"/>
            <a:ext cx="4572000" cy="1645920"/>
          </a:xfrm>
          <a:prstGeom prst="rect">
            <a:avLst/>
          </a:prstGeom>
          <a:noFill/>
        </p:spPr>
        <p:txBody>
          <a:bodyPr wrap="square" lIns="25400" tIns="25400" rIns="25400" bIns="25400">
            <a:spAutoFit/>
          </a:bodyPr>
          <a:lstStyle/>
          <a:p>
            <a:pPr>
              <a:spcAft>
                <a:spcPts val="800"/>
              </a:spcAft>
              <a:defRPr sz="1600">
                <a:solidFill>
                  <a:srgbClr val="222222"/>
                </a:solidFill>
                <a:latin typeface="Arial"/>
              </a:defRPr>
            </a:pPr>
            <a:r>
              <a:t>Dùng Cosine Similarity trên vector kỹ năng đã chuẩn hóa.</a:t>
            </a:r>
          </a:p>
          <a:p>
            <a:pPr>
              <a:spcAft>
                <a:spcPts val="800"/>
              </a:spcAft>
              <a:defRPr sz="1600">
                <a:solidFill>
                  <a:srgbClr val="222222"/>
                </a:solidFill>
                <a:latin typeface="Arial"/>
              </a:defRPr>
            </a:pPr>
            <a:r>
              <a:t>Khi truy vấn L. Messi, hệ thống trả về các cầu thủ có phong cách tấn công/rê bóng rất gần thực tế.</a:t>
            </a:r>
          </a:p>
          <a:p>
            <a:pPr>
              <a:spcAft>
                <a:spcPts val="800"/>
              </a:spcAft>
              <a:defRPr sz="1600">
                <a:solidFill>
                  <a:srgbClr val="222222"/>
                </a:solidFill>
                <a:latin typeface="Arial"/>
              </a:defRPr>
            </a:pPr>
            <a:r>
              <a:t>Bài toán hữu ích cho scouting, gợi ý chuyển nhượng và so sánh cầu thủ.</a:t>
            </a:r>
          </a:p>
        </p:txBody>
      </p:sp>
      <p:sp>
        <p:nvSpPr>
          <p:cNvPr id="11" name="TextBox 10"/>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DỰ ĐOÁN GIÁ TRỊ CẦU THỦ</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SVD + GBT</a:t>
            </a:r>
          </a:p>
        </p:txBody>
      </p:sp>
      <p:sp>
        <p:nvSpPr>
          <p:cNvPr id="7" name="TextBox 6"/>
          <p:cNvSpPr txBox="1"/>
          <p:nvPr/>
        </p:nvSpPr>
        <p:spPr>
          <a:xfrm>
            <a:off x="685800" y="914400"/>
            <a:ext cx="5303520" cy="320040"/>
          </a:xfrm>
          <a:prstGeom prst="rect">
            <a:avLst/>
          </a:prstGeom>
          <a:noFill/>
        </p:spPr>
        <p:txBody>
          <a:bodyPr wrap="square">
            <a:spAutoFit/>
          </a:bodyPr>
          <a:lstStyle/>
          <a:p>
            <a:pPr algn="l">
              <a:defRPr sz="2100" b="1">
                <a:solidFill>
                  <a:srgbClr val="0F2E58"/>
                </a:solidFill>
                <a:latin typeface="Arial"/>
              </a:defRPr>
            </a:pPr>
            <a:r>
              <a:t>Pipeline prediction</a:t>
            </a:r>
          </a:p>
        </p:txBody>
      </p:sp>
      <p:sp>
        <p:nvSpPr>
          <p:cNvPr id="8" name="Rounded Rectangle 7"/>
          <p:cNvSpPr/>
          <p:nvPr/>
        </p:nvSpPr>
        <p:spPr>
          <a:xfrm>
            <a:off x="731520" y="1325880"/>
            <a:ext cx="5029200" cy="192024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645920"/>
            <a:ext cx="4663440" cy="1097280"/>
          </a:xfrm>
          <a:prstGeom prst="rect">
            <a:avLst/>
          </a:prstGeom>
          <a:noFill/>
        </p:spPr>
        <p:txBody>
          <a:bodyPr wrap="square">
            <a:spAutoFit/>
          </a:bodyPr>
          <a:lstStyle/>
          <a:p>
            <a:pPr algn="ctr">
              <a:defRPr sz="1900" b="1">
                <a:solidFill>
                  <a:srgbClr val="0F2E58"/>
                </a:solidFill>
                <a:latin typeface="Arial"/>
              </a:defRPr>
            </a:pPr>
            <a:r>
              <a:t>Gold ML Features</a:t>
            </a:r>
            <a:br/>
            <a:r>
              <a:t>→ VectorAssembler + StandardScaler</a:t>
            </a:r>
            <a:br/>
            <a:r>
              <a:t>→ SVD (10 chiều → 8 chiều, giữ 98.1% variance)</a:t>
            </a:r>
            <a:br/>
            <a:r>
              <a:t>→ GBT Regressor</a:t>
            </a:r>
          </a:p>
        </p:txBody>
      </p:sp>
      <p:sp>
        <p:nvSpPr>
          <p:cNvPr id="10" name="TextBox 9"/>
          <p:cNvSpPr txBox="1"/>
          <p:nvPr/>
        </p:nvSpPr>
        <p:spPr>
          <a:xfrm>
            <a:off x="731520" y="3794760"/>
            <a:ext cx="5120640" cy="320040"/>
          </a:xfrm>
          <a:prstGeom prst="rect">
            <a:avLst/>
          </a:prstGeom>
          <a:noFill/>
        </p:spPr>
        <p:txBody>
          <a:bodyPr wrap="square">
            <a:spAutoFit/>
          </a:bodyPr>
          <a:lstStyle/>
          <a:p>
            <a:pPr algn="l">
              <a:defRPr sz="2100" b="1">
                <a:solidFill>
                  <a:srgbClr val="0F2E58"/>
                </a:solidFill>
                <a:latin typeface="Arial"/>
              </a:defRPr>
            </a:pPr>
            <a:r>
              <a:t>Biến đầu vào</a:t>
            </a:r>
          </a:p>
        </p:txBody>
      </p:sp>
      <p:sp>
        <p:nvSpPr>
          <p:cNvPr id="11" name="TextBox 10"/>
          <p:cNvSpPr txBox="1"/>
          <p:nvPr/>
        </p:nvSpPr>
        <p:spPr>
          <a:xfrm>
            <a:off x="868680" y="4160520"/>
            <a:ext cx="4937760" cy="164592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age, potential, potential_gap, bmi</a:t>
            </a:r>
          </a:p>
          <a:p>
            <a:pPr>
              <a:spcAft>
                <a:spcPts val="800"/>
              </a:spcAft>
              <a:defRPr sz="1700">
                <a:solidFill>
                  <a:srgbClr val="222222"/>
                </a:solidFill>
                <a:latin typeface="Arial"/>
              </a:defRPr>
            </a:pPr>
            <a:r>
              <a:t>pace, shooting, passing, dribbling, defending, physic</a:t>
            </a:r>
          </a:p>
        </p:txBody>
      </p:sp>
      <p:sp>
        <p:nvSpPr>
          <p:cNvPr id="12" name="TextBox 11"/>
          <p:cNvSpPr txBox="1"/>
          <p:nvPr/>
        </p:nvSpPr>
        <p:spPr>
          <a:xfrm>
            <a:off x="6400800" y="1005840"/>
            <a:ext cx="4754880" cy="320040"/>
          </a:xfrm>
          <a:prstGeom prst="rect">
            <a:avLst/>
          </a:prstGeom>
          <a:noFill/>
        </p:spPr>
        <p:txBody>
          <a:bodyPr wrap="square">
            <a:spAutoFit/>
          </a:bodyPr>
          <a:lstStyle/>
          <a:p>
            <a:pPr algn="l">
              <a:defRPr sz="2200" b="1">
                <a:solidFill>
                  <a:srgbClr val="0F2E58"/>
                </a:solidFill>
                <a:latin typeface="Arial"/>
              </a:defRPr>
            </a:pPr>
            <a:r>
              <a:t>Kết quả mô hình GBT</a:t>
            </a:r>
          </a:p>
        </p:txBody>
      </p:sp>
      <p:sp>
        <p:nvSpPr>
          <p:cNvPr id="13" name="Rounded Rectangle 12"/>
          <p:cNvSpPr/>
          <p:nvPr/>
        </p:nvSpPr>
        <p:spPr>
          <a:xfrm>
            <a:off x="6537960" y="1554480"/>
            <a:ext cx="155448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7688" y="1600200"/>
            <a:ext cx="1371600" cy="822960"/>
          </a:xfrm>
          <a:prstGeom prst="rect">
            <a:avLst/>
          </a:prstGeom>
          <a:noFill/>
        </p:spPr>
        <p:txBody>
          <a:bodyPr wrap="none">
            <a:spAutoFit/>
          </a:bodyPr>
          <a:lstStyle/>
          <a:p>
            <a:pPr>
              <a:defRPr sz="1200" b="1">
                <a:solidFill>
                  <a:srgbClr val="0F2E58"/>
                </a:solidFill>
                <a:latin typeface="Arial"/>
              </a:defRPr>
            </a:pPr>
            <a:r>
              <a:t>SVD cho ML</a:t>
            </a:r>
          </a:p>
          <a:p>
            <a:pPr>
              <a:defRPr sz="2200" b="1">
                <a:solidFill>
                  <a:srgbClr val="216BAB"/>
                </a:solidFill>
                <a:latin typeface="Arial"/>
              </a:defRPr>
            </a:pPr>
            <a:r>
              <a:t>8 chiều</a:t>
            </a:r>
          </a:p>
          <a:p>
            <a:pPr>
              <a:defRPr sz="1000">
                <a:solidFill>
                  <a:srgbClr val="696969"/>
                </a:solidFill>
                <a:latin typeface="Arial"/>
              </a:defRPr>
            </a:pPr>
            <a:r>
              <a:t>giữ 98.1% variance</a:t>
            </a:r>
          </a:p>
        </p:txBody>
      </p:sp>
      <p:sp>
        <p:nvSpPr>
          <p:cNvPr id="15" name="Rounded Rectangle 14"/>
          <p:cNvSpPr/>
          <p:nvPr/>
        </p:nvSpPr>
        <p:spPr>
          <a:xfrm>
            <a:off x="8275320" y="1554480"/>
            <a:ext cx="137160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5048" y="1600200"/>
            <a:ext cx="1188720" cy="822960"/>
          </a:xfrm>
          <a:prstGeom prst="rect">
            <a:avLst/>
          </a:prstGeom>
          <a:noFill/>
        </p:spPr>
        <p:txBody>
          <a:bodyPr wrap="none">
            <a:spAutoFit/>
          </a:bodyPr>
          <a:lstStyle/>
          <a:p>
            <a:pPr>
              <a:defRPr sz="1200" b="1">
                <a:solidFill>
                  <a:srgbClr val="0F2E58"/>
                </a:solidFill>
                <a:latin typeface="Arial"/>
              </a:defRPr>
            </a:pPr>
            <a:r>
              <a:t>RMSE</a:t>
            </a:r>
          </a:p>
          <a:p>
            <a:pPr>
              <a:defRPr sz="2200" b="1">
                <a:solidFill>
                  <a:srgbClr val="216BAB"/>
                </a:solidFill>
                <a:latin typeface="Arial"/>
              </a:defRPr>
            </a:pPr>
            <a:r>
              <a:t>0.4899</a:t>
            </a:r>
          </a:p>
        </p:txBody>
      </p:sp>
      <p:sp>
        <p:nvSpPr>
          <p:cNvPr id="17" name="Rounded Rectangle 16"/>
          <p:cNvSpPr/>
          <p:nvPr/>
        </p:nvSpPr>
        <p:spPr>
          <a:xfrm>
            <a:off x="9875520" y="1554480"/>
            <a:ext cx="1371600" cy="9144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985248" y="1600200"/>
            <a:ext cx="1188720" cy="822960"/>
          </a:xfrm>
          <a:prstGeom prst="rect">
            <a:avLst/>
          </a:prstGeom>
          <a:noFill/>
        </p:spPr>
        <p:txBody>
          <a:bodyPr wrap="none">
            <a:spAutoFit/>
          </a:bodyPr>
          <a:lstStyle/>
          <a:p>
            <a:pPr>
              <a:defRPr sz="1200" b="1">
                <a:solidFill>
                  <a:srgbClr val="0F2E58"/>
                </a:solidFill>
                <a:latin typeface="Arial"/>
              </a:defRPr>
            </a:pPr>
            <a:r>
              <a:t>R²</a:t>
            </a:r>
          </a:p>
          <a:p>
            <a:pPr>
              <a:defRPr sz="2200" b="1">
                <a:solidFill>
                  <a:srgbClr val="216BAB"/>
                </a:solidFill>
                <a:latin typeface="Arial"/>
              </a:defRPr>
            </a:pPr>
            <a:r>
              <a:t>0.8688</a:t>
            </a:r>
          </a:p>
        </p:txBody>
      </p:sp>
      <p:sp>
        <p:nvSpPr>
          <p:cNvPr id="19" name="TextBox 18"/>
          <p:cNvSpPr txBox="1"/>
          <p:nvPr/>
        </p:nvSpPr>
        <p:spPr>
          <a:xfrm>
            <a:off x="6583680" y="2880360"/>
            <a:ext cx="4572000" cy="256032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Mô hình giải thích được khoảng 86.9% biến động của giá trị cầu thủ.</a:t>
            </a:r>
          </a:p>
          <a:p>
            <a:pPr>
              <a:spcAft>
                <a:spcPts val="800"/>
              </a:spcAft>
              <a:defRPr sz="1700">
                <a:solidFill>
                  <a:srgbClr val="222222"/>
                </a:solidFill>
                <a:latin typeface="Arial"/>
              </a:defRPr>
            </a:pPr>
            <a:r>
              <a:t>Sai số RMSE trên value_log tương ứng exp(RMSE) ≈ 1.63x sai số nhân trung bình.</a:t>
            </a:r>
          </a:p>
          <a:p>
            <a:pPr>
              <a:spcAft>
                <a:spcPts val="800"/>
              </a:spcAft>
              <a:defRPr sz="1700">
                <a:solidFill>
                  <a:srgbClr val="222222"/>
                </a:solidFill>
                <a:latin typeface="Arial"/>
              </a:defRPr>
            </a:pPr>
            <a:r>
              <a:t>Kết quả cho thấy SVD giúp nén dữ liệu mà vẫn duy trì khả năng dự đoán tốt.</a:t>
            </a:r>
          </a:p>
        </p:txBody>
      </p:sp>
      <p:sp>
        <p:nvSpPr>
          <p:cNvPr id="20" name="TextBox 19"/>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BẢNG ĐÁNH GIÁ KẾT QUẢ</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Evaluation</a:t>
            </a:r>
          </a:p>
        </p:txBody>
      </p:sp>
      <p:graphicFrame>
        <p:nvGraphicFramePr>
          <p:cNvPr id="7" name="Table 6"/>
          <p:cNvGraphicFramePr>
            <a:graphicFrameLocks noGrp="1"/>
          </p:cNvGraphicFramePr>
          <p:nvPr/>
        </p:nvGraphicFramePr>
        <p:xfrm>
          <a:off x="411480" y="914400"/>
          <a:ext cx="11338560" cy="408432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426720">
                <a:tc>
                  <a:txBody>
                    <a:bodyPr/>
                    <a:lstStyle/>
                    <a:p>
                      <a:pPr algn="ctr">
                        <a:defRPr sz="1300" b="1">
                          <a:solidFill>
                            <a:srgbClr val="FFFFFF"/>
                          </a:solidFill>
                          <a:latin typeface="Arial"/>
                        </a:defRPr>
                      </a:pPr>
                      <a:r>
                        <a:t>Tiêu chí</a:t>
                      </a:r>
                    </a:p>
                  </a:txBody>
                  <a:tcPr>
                    <a:solidFill>
                      <a:srgbClr val="0F2E58"/>
                    </a:solidFill>
                  </a:tcPr>
                </a:tc>
                <a:tc>
                  <a:txBody>
                    <a:bodyPr/>
                    <a:lstStyle/>
                    <a:p>
                      <a:pPr algn="ctr">
                        <a:defRPr sz="1300" b="1">
                          <a:solidFill>
                            <a:srgbClr val="FFFFFF"/>
                          </a:solidFill>
                          <a:latin typeface="Arial"/>
                        </a:defRPr>
                      </a:pPr>
                      <a:r>
                        <a:t>Kết quả</a:t>
                      </a:r>
                    </a:p>
                  </a:txBody>
                  <a:tcPr>
                    <a:solidFill>
                      <a:srgbClr val="0F2E58"/>
                    </a:solidFill>
                  </a:tcPr>
                </a:tc>
                <a:tc>
                  <a:txBody>
                    <a:bodyPr/>
                    <a:lstStyle/>
                    <a:p>
                      <a:pPr algn="ctr">
                        <a:defRPr sz="1300" b="1">
                          <a:solidFill>
                            <a:srgbClr val="FFFFFF"/>
                          </a:solidFill>
                          <a:latin typeface="Arial"/>
                        </a:defRPr>
                      </a:pPr>
                      <a:r>
                        <a:t>Đánh giá</a:t>
                      </a:r>
                    </a:p>
                  </a:txBody>
                  <a:tcPr>
                    <a:solidFill>
                      <a:srgbClr val="0F2E58"/>
                    </a:solidFill>
                  </a:tcPr>
                </a:tc>
                <a:extLst>
                  <a:ext uri="{0D108BD9-81ED-4DB2-BD59-A6C34878D82A}">
                    <a16:rowId xmlns:a16="http://schemas.microsoft.com/office/drawing/2014/main" val="10000"/>
                  </a:ext>
                </a:extLst>
              </a:tr>
              <a:tr h="426720">
                <a:tc>
                  <a:txBody>
                    <a:bodyPr/>
                    <a:lstStyle/>
                    <a:p>
                      <a:pPr algn="l">
                        <a:defRPr sz="1300">
                          <a:solidFill>
                            <a:srgbClr val="222222"/>
                          </a:solidFill>
                          <a:latin typeface="Arial"/>
                        </a:defRPr>
                      </a:pPr>
                      <a:r>
                        <a:t>Xây dựng pipeline Big Data</a:t>
                      </a:r>
                    </a:p>
                  </a:txBody>
                  <a:tcPr>
                    <a:solidFill>
                      <a:srgbClr val="FFFFFF"/>
                    </a:solidFill>
                  </a:tcPr>
                </a:tc>
                <a:tc>
                  <a:txBody>
                    <a:bodyPr/>
                    <a:lstStyle/>
                    <a:p>
                      <a:pPr algn="l">
                        <a:defRPr sz="1300">
                          <a:solidFill>
                            <a:srgbClr val="222222"/>
                          </a:solidFill>
                          <a:latin typeface="Arial"/>
                        </a:defRPr>
                      </a:pPr>
                      <a:r>
                        <a:t>Hoàn thành Bronze – Silver – Gold bằng PySpark + Delta Lake</a:t>
                      </a:r>
                    </a:p>
                  </a:txBody>
                  <a:tcPr>
                    <a:solidFill>
                      <a:srgbClr val="FFFFFF"/>
                    </a:solidFill>
                  </a:tcPr>
                </a:tc>
                <a:tc>
                  <a:txBody>
                    <a:bodyPr/>
                    <a:lstStyle/>
                    <a:p>
                      <a:pPr algn="l">
                        <a:defRPr sz="1300">
                          <a:solidFill>
                            <a:srgbClr val="222222"/>
                          </a:solidFill>
                          <a:latin typeface="Arial"/>
                        </a:defRPr>
                      </a:pPr>
                      <a:r>
                        <a:t>Đạt</a:t>
                      </a:r>
                    </a:p>
                  </a:txBody>
                  <a:tcPr>
                    <a:solidFill>
                      <a:srgbClr val="FFFFFF"/>
                    </a:solidFill>
                  </a:tcPr>
                </a:tc>
                <a:extLst>
                  <a:ext uri="{0D108BD9-81ED-4DB2-BD59-A6C34878D82A}">
                    <a16:rowId xmlns:a16="http://schemas.microsoft.com/office/drawing/2014/main" val="10001"/>
                  </a:ext>
                </a:extLst>
              </a:tr>
              <a:tr h="426720">
                <a:tc>
                  <a:txBody>
                    <a:bodyPr/>
                    <a:lstStyle/>
                    <a:p>
                      <a:pPr algn="l">
                        <a:defRPr sz="1300">
                          <a:solidFill>
                            <a:srgbClr val="222222"/>
                          </a:solidFill>
                          <a:latin typeface="Arial"/>
                        </a:defRPr>
                      </a:pPr>
                      <a:r>
                        <a:t>Làm sạch dữ liệu</a:t>
                      </a:r>
                    </a:p>
                  </a:txBody>
                  <a:tcPr>
                    <a:solidFill>
                      <a:srgbClr val="F5F7FA"/>
                    </a:solidFill>
                  </a:tcPr>
                </a:tc>
                <a:tc>
                  <a:txBody>
                    <a:bodyPr/>
                    <a:lstStyle/>
                    <a:p>
                      <a:pPr algn="l">
                        <a:defRPr sz="1300">
                          <a:solidFill>
                            <a:srgbClr val="222222"/>
                          </a:solidFill>
                          <a:latin typeface="Arial"/>
                        </a:defRPr>
                      </a:pPr>
                      <a:r>
                        <a:t>Loại 132,797 dòng lỗi; chuẩn hóa và xử lý missing/outlier</a:t>
                      </a:r>
                    </a:p>
                  </a:txBody>
                  <a:tcPr>
                    <a:solidFill>
                      <a:srgbClr val="F5F7FA"/>
                    </a:solidFill>
                  </a:tcPr>
                </a:tc>
                <a:tc>
                  <a:txBody>
                    <a:bodyPr/>
                    <a:lstStyle/>
                    <a:p>
                      <a:pPr algn="l">
                        <a:defRPr sz="1300">
                          <a:solidFill>
                            <a:srgbClr val="222222"/>
                          </a:solidFill>
                          <a:latin typeface="Arial"/>
                        </a:defRPr>
                      </a:pPr>
                      <a:r>
                        <a:t>Đạt tốt</a:t>
                      </a:r>
                    </a:p>
                  </a:txBody>
                  <a:tcPr>
                    <a:solidFill>
                      <a:srgbClr val="F5F7FA"/>
                    </a:solidFill>
                  </a:tcPr>
                </a:tc>
                <a:extLst>
                  <a:ext uri="{0D108BD9-81ED-4DB2-BD59-A6C34878D82A}">
                    <a16:rowId xmlns:a16="http://schemas.microsoft.com/office/drawing/2014/main" val="10002"/>
                  </a:ext>
                </a:extLst>
              </a:tr>
              <a:tr h="426720">
                <a:tc>
                  <a:txBody>
                    <a:bodyPr/>
                    <a:lstStyle/>
                    <a:p>
                      <a:pPr algn="l">
                        <a:defRPr sz="1300">
                          <a:solidFill>
                            <a:srgbClr val="222222"/>
                          </a:solidFill>
                          <a:latin typeface="Arial"/>
                        </a:defRPr>
                      </a:pPr>
                      <a:r>
                        <a:t>Giảm chiều cho clustering</a:t>
                      </a:r>
                    </a:p>
                  </a:txBody>
                  <a:tcPr>
                    <a:solidFill>
                      <a:srgbClr val="FFFFFF"/>
                    </a:solidFill>
                  </a:tcPr>
                </a:tc>
                <a:tc>
                  <a:txBody>
                    <a:bodyPr/>
                    <a:lstStyle/>
                    <a:p>
                      <a:pPr algn="l">
                        <a:defRPr sz="1300">
                          <a:solidFill>
                            <a:srgbClr val="222222"/>
                          </a:solidFill>
                          <a:latin typeface="Arial"/>
                        </a:defRPr>
                      </a:pPr>
                      <a:r>
                        <a:t>6 → 3 chiều, giữ 87.0% variance</a:t>
                      </a:r>
                    </a:p>
                  </a:txBody>
                  <a:tcPr>
                    <a:solidFill>
                      <a:srgbClr val="FFFFFF"/>
                    </a:solidFill>
                  </a:tcPr>
                </a:tc>
                <a:tc>
                  <a:txBody>
                    <a:bodyPr/>
                    <a:lstStyle/>
                    <a:p>
                      <a:pPr algn="l">
                        <a:defRPr sz="1300">
                          <a:solidFill>
                            <a:srgbClr val="222222"/>
                          </a:solidFill>
                          <a:latin typeface="Arial"/>
                        </a:defRPr>
                      </a:pPr>
                      <a:r>
                        <a:t>Hiệu quả</a:t>
                      </a:r>
                    </a:p>
                  </a:txBody>
                  <a:tcPr>
                    <a:solidFill>
                      <a:srgbClr val="FFFFFF"/>
                    </a:solidFill>
                  </a:tcPr>
                </a:tc>
                <a:extLst>
                  <a:ext uri="{0D108BD9-81ED-4DB2-BD59-A6C34878D82A}">
                    <a16:rowId xmlns:a16="http://schemas.microsoft.com/office/drawing/2014/main" val="10003"/>
                  </a:ext>
                </a:extLst>
              </a:tr>
              <a:tr h="426720">
                <a:tc>
                  <a:txBody>
                    <a:bodyPr/>
                    <a:lstStyle/>
                    <a:p>
                      <a:pPr algn="l">
                        <a:defRPr sz="1300">
                          <a:solidFill>
                            <a:srgbClr val="222222"/>
                          </a:solidFill>
                          <a:latin typeface="Arial"/>
                        </a:defRPr>
                      </a:pPr>
                      <a:r>
                        <a:t>Chất lượng phân cụm</a:t>
                      </a:r>
                    </a:p>
                  </a:txBody>
                  <a:tcPr>
                    <a:solidFill>
                      <a:srgbClr val="F5F7FA"/>
                    </a:solidFill>
                  </a:tcPr>
                </a:tc>
                <a:tc>
                  <a:txBody>
                    <a:bodyPr/>
                    <a:lstStyle/>
                    <a:p>
                      <a:pPr algn="l">
                        <a:defRPr sz="1300">
                          <a:solidFill>
                            <a:srgbClr val="222222"/>
                          </a:solidFill>
                          <a:latin typeface="Arial"/>
                        </a:defRPr>
                      </a:pPr>
                      <a:r>
                        <a:t>KMeans K=6, Silhouette = 0.4304</a:t>
                      </a:r>
                    </a:p>
                  </a:txBody>
                  <a:tcPr>
                    <a:solidFill>
                      <a:srgbClr val="F5F7FA"/>
                    </a:solidFill>
                  </a:tcPr>
                </a:tc>
                <a:tc>
                  <a:txBody>
                    <a:bodyPr/>
                    <a:lstStyle/>
                    <a:p>
                      <a:pPr algn="l">
                        <a:defRPr sz="1300">
                          <a:solidFill>
                            <a:srgbClr val="222222"/>
                          </a:solidFill>
                          <a:latin typeface="Arial"/>
                        </a:defRPr>
                      </a:pPr>
                      <a:r>
                        <a:t>Tốt</a:t>
                      </a:r>
                    </a:p>
                  </a:txBody>
                  <a:tcPr>
                    <a:solidFill>
                      <a:srgbClr val="F5F7FA"/>
                    </a:solidFill>
                  </a:tcPr>
                </a:tc>
                <a:extLst>
                  <a:ext uri="{0D108BD9-81ED-4DB2-BD59-A6C34878D82A}">
                    <a16:rowId xmlns:a16="http://schemas.microsoft.com/office/drawing/2014/main" val="10004"/>
                  </a:ext>
                </a:extLst>
              </a:tr>
              <a:tr h="426720">
                <a:tc>
                  <a:txBody>
                    <a:bodyPr/>
                    <a:lstStyle/>
                    <a:p>
                      <a:pPr algn="l">
                        <a:defRPr sz="1300">
                          <a:solidFill>
                            <a:srgbClr val="222222"/>
                          </a:solidFill>
                          <a:latin typeface="Arial"/>
                        </a:defRPr>
                      </a:pPr>
                      <a:r>
                        <a:t>Player similarity</a:t>
                      </a:r>
                    </a:p>
                  </a:txBody>
                  <a:tcPr>
                    <a:solidFill>
                      <a:srgbClr val="FFFFFF"/>
                    </a:solidFill>
                  </a:tcPr>
                </a:tc>
                <a:tc>
                  <a:txBody>
                    <a:bodyPr/>
                    <a:lstStyle/>
                    <a:p>
                      <a:pPr algn="l">
                        <a:defRPr sz="1300">
                          <a:solidFill>
                            <a:srgbClr val="222222"/>
                          </a:solidFill>
                          <a:latin typeface="Arial"/>
                        </a:defRPr>
                      </a:pPr>
                      <a:r>
                        <a:t>Kết quả top cầu thủ tương đồng hợp lý với trực giác bóng đá</a:t>
                      </a:r>
                    </a:p>
                  </a:txBody>
                  <a:tcPr>
                    <a:solidFill>
                      <a:srgbClr val="FFFFFF"/>
                    </a:solidFill>
                  </a:tcPr>
                </a:tc>
                <a:tc>
                  <a:txBody>
                    <a:bodyPr/>
                    <a:lstStyle/>
                    <a:p>
                      <a:pPr algn="l">
                        <a:defRPr sz="1300">
                          <a:solidFill>
                            <a:srgbClr val="222222"/>
                          </a:solidFill>
                          <a:latin typeface="Arial"/>
                        </a:defRPr>
                      </a:pPr>
                      <a:r>
                        <a:t>Tốt</a:t>
                      </a:r>
                    </a:p>
                  </a:txBody>
                  <a:tcPr>
                    <a:solidFill>
                      <a:srgbClr val="FFFFFF"/>
                    </a:solidFill>
                  </a:tcPr>
                </a:tc>
                <a:extLst>
                  <a:ext uri="{0D108BD9-81ED-4DB2-BD59-A6C34878D82A}">
                    <a16:rowId xmlns:a16="http://schemas.microsoft.com/office/drawing/2014/main" val="10005"/>
                  </a:ext>
                </a:extLst>
              </a:tr>
              <a:tr h="426720">
                <a:tc>
                  <a:txBody>
                    <a:bodyPr/>
                    <a:lstStyle/>
                    <a:p>
                      <a:pPr algn="l">
                        <a:defRPr sz="1300">
                          <a:solidFill>
                            <a:srgbClr val="222222"/>
                          </a:solidFill>
                          <a:latin typeface="Arial"/>
                        </a:defRPr>
                      </a:pPr>
                      <a:r>
                        <a:t>Giảm chiều cho prediction</a:t>
                      </a:r>
                    </a:p>
                  </a:txBody>
                  <a:tcPr>
                    <a:solidFill>
                      <a:srgbClr val="F5F7FA"/>
                    </a:solidFill>
                  </a:tcPr>
                </a:tc>
                <a:tc>
                  <a:txBody>
                    <a:bodyPr/>
                    <a:lstStyle/>
                    <a:p>
                      <a:pPr algn="l">
                        <a:defRPr sz="1300">
                          <a:solidFill>
                            <a:srgbClr val="222222"/>
                          </a:solidFill>
                          <a:latin typeface="Arial"/>
                        </a:defRPr>
                      </a:pPr>
                      <a:r>
                        <a:t>10 → 8 chiều, giữ 98.1% variance</a:t>
                      </a:r>
                    </a:p>
                  </a:txBody>
                  <a:tcPr>
                    <a:solidFill>
                      <a:srgbClr val="F5F7FA"/>
                    </a:solidFill>
                  </a:tcPr>
                </a:tc>
                <a:tc>
                  <a:txBody>
                    <a:bodyPr/>
                    <a:lstStyle/>
                    <a:p>
                      <a:pPr algn="l">
                        <a:defRPr sz="1300">
                          <a:solidFill>
                            <a:srgbClr val="222222"/>
                          </a:solidFill>
                          <a:latin typeface="Arial"/>
                        </a:defRPr>
                      </a:pPr>
                      <a:r>
                        <a:t>Hiệu quả</a:t>
                      </a:r>
                    </a:p>
                  </a:txBody>
                  <a:tcPr>
                    <a:solidFill>
                      <a:srgbClr val="F5F7FA"/>
                    </a:solidFill>
                  </a:tcPr>
                </a:tc>
                <a:extLst>
                  <a:ext uri="{0D108BD9-81ED-4DB2-BD59-A6C34878D82A}">
                    <a16:rowId xmlns:a16="http://schemas.microsoft.com/office/drawing/2014/main" val="10006"/>
                  </a:ext>
                </a:extLst>
              </a:tr>
              <a:tr h="426720">
                <a:tc>
                  <a:txBody>
                    <a:bodyPr/>
                    <a:lstStyle/>
                    <a:p>
                      <a:pPr algn="l">
                        <a:defRPr sz="1300">
                          <a:solidFill>
                            <a:srgbClr val="222222"/>
                          </a:solidFill>
                          <a:latin typeface="Arial"/>
                        </a:defRPr>
                      </a:pPr>
                      <a:r>
                        <a:t>Độ chính xác dự đoán</a:t>
                      </a:r>
                    </a:p>
                  </a:txBody>
                  <a:tcPr>
                    <a:solidFill>
                      <a:srgbClr val="FFFFFF"/>
                    </a:solidFill>
                  </a:tcPr>
                </a:tc>
                <a:tc>
                  <a:txBody>
                    <a:bodyPr/>
                    <a:lstStyle/>
                    <a:p>
                      <a:pPr algn="l">
                        <a:defRPr sz="1300">
                          <a:solidFill>
                            <a:srgbClr val="222222"/>
                          </a:solidFill>
                          <a:latin typeface="Arial"/>
                        </a:defRPr>
                      </a:pPr>
                      <a:r>
                        <a:t>GBT: RMSE = 0.4899; R² = 0.8688</a:t>
                      </a:r>
                    </a:p>
                  </a:txBody>
                  <a:tcPr>
                    <a:solidFill>
                      <a:srgbClr val="FFFFFF"/>
                    </a:solidFill>
                  </a:tcPr>
                </a:tc>
                <a:tc>
                  <a:txBody>
                    <a:bodyPr/>
                    <a:lstStyle/>
                    <a:p>
                      <a:pPr algn="l">
                        <a:defRPr sz="1300">
                          <a:solidFill>
                            <a:srgbClr val="222222"/>
                          </a:solidFill>
                          <a:latin typeface="Arial"/>
                        </a:defRPr>
                      </a:pPr>
                      <a:r>
                        <a:t>Tốt</a:t>
                      </a:r>
                    </a:p>
                  </a:txBody>
                  <a:tcPr>
                    <a:solidFill>
                      <a:srgbClr val="FFFFFF"/>
                    </a:solidFill>
                  </a:tcPr>
                </a:tc>
                <a:extLst>
                  <a:ext uri="{0D108BD9-81ED-4DB2-BD59-A6C34878D82A}">
                    <a16:rowId xmlns:a16="http://schemas.microsoft.com/office/drawing/2014/main" val="10007"/>
                  </a:ext>
                </a:extLst>
              </a:tr>
              <a:tr h="426720">
                <a:tc>
                  <a:txBody>
                    <a:bodyPr/>
                    <a:lstStyle/>
                    <a:p>
                      <a:pPr algn="l">
                        <a:defRPr sz="1300">
                          <a:solidFill>
                            <a:srgbClr val="222222"/>
                          </a:solidFill>
                          <a:latin typeface="Arial"/>
                        </a:defRPr>
                      </a:pPr>
                      <a:r>
                        <a:t>Khả năng ứng dụng</a:t>
                      </a:r>
                    </a:p>
                  </a:txBody>
                  <a:tcPr>
                    <a:solidFill>
                      <a:srgbClr val="F5F7FA"/>
                    </a:solidFill>
                  </a:tcPr>
                </a:tc>
                <a:tc>
                  <a:txBody>
                    <a:bodyPr/>
                    <a:lstStyle/>
                    <a:p>
                      <a:pPr algn="l">
                        <a:defRPr sz="1300">
                          <a:solidFill>
                            <a:srgbClr val="222222"/>
                          </a:solidFill>
                          <a:latin typeface="Arial"/>
                        </a:defRPr>
                      </a:pPr>
                      <a:r>
                        <a:t>Phục vụ scouting, phân tích phong cách chơi và định giá cầu thủ</a:t>
                      </a:r>
                    </a:p>
                  </a:txBody>
                  <a:tcPr>
                    <a:solidFill>
                      <a:srgbClr val="F5F7FA"/>
                    </a:solidFill>
                  </a:tcPr>
                </a:tc>
                <a:tc>
                  <a:txBody>
                    <a:bodyPr/>
                    <a:lstStyle/>
                    <a:p>
                      <a:pPr algn="l">
                        <a:defRPr sz="1300">
                          <a:solidFill>
                            <a:srgbClr val="222222"/>
                          </a:solidFill>
                          <a:latin typeface="Arial"/>
                        </a:defRPr>
                      </a:pPr>
                      <a:r>
                        <a:t>Cao</a:t>
                      </a:r>
                    </a:p>
                  </a:txBody>
                  <a:tcPr>
                    <a:solidFill>
                      <a:srgbClr val="F5F7FA"/>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640080" y="5074920"/>
            <a:ext cx="10972800" cy="731520"/>
          </a:xfrm>
          <a:prstGeom prst="rect">
            <a:avLst/>
          </a:prstGeom>
          <a:noFill/>
        </p:spPr>
        <p:txBody>
          <a:bodyPr wrap="square">
            <a:spAutoFit/>
          </a:bodyPr>
          <a:lstStyle/>
          <a:p>
            <a:pPr algn="ctr">
              <a:defRPr sz="1700" b="1">
                <a:solidFill>
                  <a:srgbClr val="2E7D32"/>
                </a:solidFill>
                <a:latin typeface="Arial"/>
              </a:defRPr>
            </a:pPr>
            <a:r>
              <a:t>Tổng thể, đồ án chứng minh rằng SVD là một kỹ thuật giảm chiều phù hợp trong bối cảnh Big Data, giúp cải thiện khả năng khai thác dữ liệu FIFA23 cho nhiều bài toán thực tế.</a:t>
            </a:r>
          </a:p>
        </p:txBody>
      </p:sp>
      <p:sp>
        <p:nvSpPr>
          <p:cNvPr id="9" name="TextBox 8"/>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
            <a:ext cx="8046720" cy="320040"/>
          </a:xfrm>
          <a:prstGeom prst="rect">
            <a:avLst/>
          </a:prstGeom>
          <a:noFill/>
        </p:spPr>
        <p:txBody>
          <a:bodyPr wrap="none">
            <a:spAutoFit/>
          </a:bodyPr>
          <a:lstStyle/>
          <a:p>
            <a:pPr>
              <a:defRPr sz="2500" b="1">
                <a:solidFill>
                  <a:srgbClr val="FFFFFF"/>
                </a:solidFill>
                <a:latin typeface="Arial"/>
              </a:defRPr>
            </a:pPr>
            <a:r>
              <a:t>KẾT LUẬN VÀ HƯỚNG PHÁT TRIỂN</a:t>
            </a:r>
          </a:p>
        </p:txBody>
      </p:sp>
      <p:sp>
        <p:nvSpPr>
          <p:cNvPr id="6" name="TextBox 5"/>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Conclusion</a:t>
            </a:r>
          </a:p>
        </p:txBody>
      </p:sp>
      <p:sp>
        <p:nvSpPr>
          <p:cNvPr id="7" name="TextBox 6"/>
          <p:cNvSpPr txBox="1"/>
          <p:nvPr/>
        </p:nvSpPr>
        <p:spPr>
          <a:xfrm>
            <a:off x="685800" y="914400"/>
            <a:ext cx="5303520" cy="320040"/>
          </a:xfrm>
          <a:prstGeom prst="rect">
            <a:avLst/>
          </a:prstGeom>
          <a:noFill/>
        </p:spPr>
        <p:txBody>
          <a:bodyPr wrap="square">
            <a:spAutoFit/>
          </a:bodyPr>
          <a:lstStyle/>
          <a:p>
            <a:pPr algn="l">
              <a:defRPr sz="2100" b="1">
                <a:solidFill>
                  <a:srgbClr val="0F2E58"/>
                </a:solidFill>
                <a:latin typeface="Arial"/>
              </a:defRPr>
            </a:pPr>
            <a:r>
              <a:t>Kết luận</a:t>
            </a:r>
          </a:p>
        </p:txBody>
      </p:sp>
      <p:sp>
        <p:nvSpPr>
          <p:cNvPr id="8" name="TextBox 7"/>
          <p:cNvSpPr txBox="1"/>
          <p:nvPr/>
        </p:nvSpPr>
        <p:spPr>
          <a:xfrm>
            <a:off x="822960" y="1325880"/>
            <a:ext cx="5120640" cy="292608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Đã xây dựng thành công hệ thống phân tích cầu thủ FIFA23 trên nền tảng Big Data.</a:t>
            </a:r>
          </a:p>
          <a:p>
            <a:pPr>
              <a:spcAft>
                <a:spcPts val="800"/>
              </a:spcAft>
              <a:defRPr sz="1700">
                <a:solidFill>
                  <a:srgbClr val="222222"/>
                </a:solidFill>
                <a:latin typeface="Arial"/>
              </a:defRPr>
            </a:pPr>
            <a:r>
              <a:t>SVD giúp rút gọn số chiều, bảo toàn phần lớn thông tin và hỗ trợ cả phân cụm lẫn dự đoán.</a:t>
            </a:r>
          </a:p>
          <a:p>
            <a:pPr>
              <a:spcAft>
                <a:spcPts val="800"/>
              </a:spcAft>
              <a:defRPr sz="1700">
                <a:solidFill>
                  <a:srgbClr val="222222"/>
                </a:solidFill>
                <a:latin typeface="Arial"/>
              </a:defRPr>
            </a:pPr>
            <a:r>
              <a:t>Kết quả clustering, similarity và prediction đều có ý nghĩa và khả năng ứng dụng cao.</a:t>
            </a:r>
          </a:p>
        </p:txBody>
      </p:sp>
      <p:sp>
        <p:nvSpPr>
          <p:cNvPr id="11" name="TextBox 10"/>
          <p:cNvSpPr txBox="1"/>
          <p:nvPr/>
        </p:nvSpPr>
        <p:spPr>
          <a:xfrm>
            <a:off x="685800" y="4480560"/>
            <a:ext cx="5303520" cy="320040"/>
          </a:xfrm>
          <a:prstGeom prst="rect">
            <a:avLst/>
          </a:prstGeom>
          <a:noFill/>
        </p:spPr>
        <p:txBody>
          <a:bodyPr wrap="square">
            <a:spAutoFit/>
          </a:bodyPr>
          <a:lstStyle/>
          <a:p>
            <a:pPr algn="l">
              <a:defRPr sz="2100" b="1">
                <a:solidFill>
                  <a:srgbClr val="0F2E58"/>
                </a:solidFill>
                <a:latin typeface="Arial"/>
              </a:defRPr>
            </a:pPr>
            <a:r>
              <a:t>Hướng phát triển</a:t>
            </a:r>
          </a:p>
        </p:txBody>
      </p:sp>
      <p:sp>
        <p:nvSpPr>
          <p:cNvPr id="12" name="TextBox 11"/>
          <p:cNvSpPr txBox="1"/>
          <p:nvPr/>
        </p:nvSpPr>
        <p:spPr>
          <a:xfrm>
            <a:off x="822960" y="4892040"/>
            <a:ext cx="10698480" cy="1097280"/>
          </a:xfrm>
          <a:prstGeom prst="rect">
            <a:avLst/>
          </a:prstGeom>
          <a:noFill/>
        </p:spPr>
        <p:txBody>
          <a:bodyPr wrap="square" lIns="25400" tIns="25400" rIns="25400" bIns="25400">
            <a:spAutoFit/>
          </a:bodyPr>
          <a:lstStyle/>
          <a:p>
            <a:pPr>
              <a:spcAft>
                <a:spcPts val="800"/>
              </a:spcAft>
              <a:defRPr sz="1700">
                <a:solidFill>
                  <a:srgbClr val="222222"/>
                </a:solidFill>
                <a:latin typeface="Arial"/>
              </a:defRPr>
            </a:pPr>
            <a:r>
              <a:t>Mở rộng so sánh nhiều thuật toán giảm chiều và nhiều mô hình học máy hơn.</a:t>
            </a:r>
          </a:p>
          <a:p>
            <a:pPr>
              <a:spcAft>
                <a:spcPts val="800"/>
              </a:spcAft>
              <a:defRPr sz="1700">
                <a:solidFill>
                  <a:srgbClr val="222222"/>
                </a:solidFill>
                <a:latin typeface="Arial"/>
              </a:defRPr>
            </a:pPr>
            <a:r>
              <a:t>Khai thác dữ liệu theo mùa giải/câu lạc bộ/vị trí để xây dựng dashboard hoặc hệ gợi ý chuyển nhượng thông minh.</a:t>
            </a:r>
          </a:p>
        </p:txBody>
      </p:sp>
      <p:sp>
        <p:nvSpPr>
          <p:cNvPr id="13" name="TextBox 12"/>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0F2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0" y="109728"/>
            <a:ext cx="3017520" cy="256032"/>
          </a:xfrm>
          <a:prstGeom prst="rect">
            <a:avLst/>
          </a:prstGeom>
          <a:noFill/>
        </p:spPr>
        <p:txBody>
          <a:bodyPr wrap="none">
            <a:spAutoFit/>
          </a:bodyPr>
          <a:lstStyle/>
          <a:p>
            <a:pPr algn="r">
              <a:defRPr sz="1000">
                <a:solidFill>
                  <a:srgbClr val="FFFFFF"/>
                </a:solidFill>
                <a:latin typeface="Arial"/>
              </a:defRPr>
            </a:pPr>
            <a:r>
              <a:t>Q&amp;A</a:t>
            </a:r>
          </a:p>
        </p:txBody>
      </p:sp>
      <p:sp>
        <p:nvSpPr>
          <p:cNvPr id="6" name="Rounded Rectangle 5"/>
          <p:cNvSpPr/>
          <p:nvPr/>
        </p:nvSpPr>
        <p:spPr>
          <a:xfrm>
            <a:off x="1097280" y="1097280"/>
            <a:ext cx="9966960" cy="4572000"/>
          </a:xfrm>
          <a:prstGeom prst="roundRect">
            <a:avLst/>
          </a:prstGeom>
          <a:solidFill>
            <a:srgbClr val="E6F2FF"/>
          </a:solidFill>
          <a:ln>
            <a:solidFill>
              <a:srgbClr val="216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1920240"/>
            <a:ext cx="9144000" cy="731520"/>
          </a:xfrm>
          <a:prstGeom prst="rect">
            <a:avLst/>
          </a:prstGeom>
          <a:noFill/>
        </p:spPr>
        <p:txBody>
          <a:bodyPr wrap="square">
            <a:spAutoFit/>
          </a:bodyPr>
          <a:lstStyle/>
          <a:p>
            <a:pPr algn="ctr">
              <a:defRPr sz="2800" b="1">
                <a:solidFill>
                  <a:srgbClr val="0F2E58"/>
                </a:solidFill>
                <a:latin typeface="Arial"/>
              </a:defRPr>
            </a:pPr>
            <a:r>
              <a:t>XIN CẢM ƠN THẦY/CÔ</a:t>
            </a:r>
            <a:br/>
            <a:r>
              <a:t>ĐÃ LẮNG NGHE!</a:t>
            </a:r>
          </a:p>
        </p:txBody>
      </p:sp>
      <p:sp>
        <p:nvSpPr>
          <p:cNvPr id="8" name="TextBox 7"/>
          <p:cNvSpPr txBox="1"/>
          <p:nvPr/>
        </p:nvSpPr>
        <p:spPr>
          <a:xfrm>
            <a:off x="2103120" y="3200400"/>
            <a:ext cx="7772400" cy="548640"/>
          </a:xfrm>
          <a:prstGeom prst="rect">
            <a:avLst/>
          </a:prstGeom>
          <a:noFill/>
        </p:spPr>
        <p:txBody>
          <a:bodyPr wrap="square">
            <a:spAutoFit/>
          </a:bodyPr>
          <a:lstStyle/>
          <a:p>
            <a:pPr algn="ctr">
              <a:defRPr sz="1800" b="0">
                <a:solidFill>
                  <a:srgbClr val="222222"/>
                </a:solidFill>
                <a:latin typeface="Arial"/>
              </a:defRPr>
            </a:pPr>
            <a:r>
              <a:t>Em xin sẵn sàng trả lời câu hỏi và tiếp thu góp ý.</a:t>
            </a:r>
          </a:p>
        </p:txBody>
      </p:sp>
      <p:sp>
        <p:nvSpPr>
          <p:cNvPr id="9" name="TextBox 8"/>
          <p:cNvSpPr txBox="1"/>
          <p:nvPr/>
        </p:nvSpPr>
        <p:spPr>
          <a:xfrm>
            <a:off x="11597335" y="6665976"/>
            <a:ext cx="411480" cy="146304"/>
          </a:xfrm>
          <a:prstGeom prst="rect">
            <a:avLst/>
          </a:prstGeom>
          <a:noFill/>
        </p:spPr>
        <p:txBody>
          <a:bodyPr wrap="none">
            <a:spAutoFit/>
          </a:bodyPr>
          <a:lstStyle/>
          <a:p>
            <a:pPr algn="r">
              <a:defRPr sz="900">
                <a:solidFill>
                  <a:srgbClr val="FFFFFF"/>
                </a:solidFill>
                <a:latin typeface="Arial"/>
              </a:defRPr>
            </a:pPr>
            <a: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2145</Words>
  <Application>Microsoft Office PowerPoint</Application>
  <PresentationFormat>Widescreen</PresentationFormat>
  <Paragraphs>306</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Hoàng Lương Trung</cp:lastModifiedBy>
  <cp:revision>2</cp:revision>
  <dcterms:created xsi:type="dcterms:W3CDTF">2013-01-27T09:14:16Z</dcterms:created>
  <dcterms:modified xsi:type="dcterms:W3CDTF">2026-04-22T10:46:28Z</dcterms:modified>
  <cp:category/>
</cp:coreProperties>
</file>